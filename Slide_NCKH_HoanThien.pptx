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BE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40A0B-D44F-B641-AB97-0C347E410FB1}" v="2" dt="2026-05-05T10:27:06.106"/>
    <p1510:client id="{3FAED6F1-4A1E-31D9-EAD7-1AFFB596B697}" v="73" dt="2026-05-05T14:52:38.350"/>
    <p1510:client id="{818A2B3F-20BC-B5A2-A1AC-7FDB2B1EB13C}" v="9" dt="2026-05-05T14:53:34.718"/>
    <p1510:client id="{9EE3C168-585A-48D4-0458-E279CA114C27}" v="2" dt="2026-05-05T14:56:45.996"/>
    <p1510:client id="{BC12390F-41EC-A344-88F4-6380B64DB962}" v="446" dt="2026-05-05T10:09:36.659"/>
    <p1510:client id="{C042D782-4301-432E-873F-6A5850D3816D}" v="10" dt="2026-05-05T14:28:11.001"/>
    <p1510:client id="{DFB15B5E-E52F-02DC-CE91-1DF78375EE7B}" v="115" dt="2026-05-05T14:38:10.678"/>
    <p1510:client id="{E44AB976-9C72-C85B-0020-2C815D182FF1}" v="170" dt="2026-05-05T10:39:52.159"/>
    <p1510:client id="{E79EBD29-95BF-8496-21E6-98C736831DBE}" v="26" dt="2026-05-05T14:53:13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74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19372" y="109301"/>
            <a:ext cx="5886259" cy="398341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>
              <a:defRPr sz="1200"/>
            </a:lvl1pPr>
          </a:lstStyle>
          <a:p>
            <a:pPr algn="ctr"/>
            <a:r>
              <a:rPr lang="en-US" sz="800"/>
              <a:t>University of Transport and Communications</a:t>
            </a:r>
          </a:p>
          <a:p>
            <a:pPr algn="ctr"/>
            <a:r>
              <a:rPr lang="en-US" sz="800" b="1"/>
              <a:t>Faculty of International Education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2042" y="9430092"/>
            <a:ext cx="2834125" cy="388831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>
              <a:defRPr sz="1200"/>
            </a:lvl1pPr>
          </a:lstStyle>
          <a:p>
            <a:r>
              <a:rPr lang="en-US" sz="800"/>
              <a:t>UTC Students’ Scientific Research Presentation</a:t>
            </a:r>
            <a:endParaRPr lang="en-US" sz="800" baseline="30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455188" cy="388831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>
              <a:defRPr sz="1200"/>
            </a:lvl1pPr>
          </a:lstStyle>
          <a:p>
            <a:fld id="{FF298A8D-1A9E-4D7F-9B4D-C2DD0B5E80CC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88132487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D884B9E-D7A9-41C8-8110-9A26BB79FE67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2117" tIns="46058" rIns="92117" bIns="46058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2" y="943009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9F3C4E8-3E9E-4B64-96E1-F10754AF8711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8990832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98E28D8C-B07E-428B-8787-BB61D8C1BAF1}" type="slidenum">
              <a:rPr lang="en-GB" smtClean="0"/>
              <a:t>1</a:t>
            </a:fld>
            <a:fld id="{5138228C-BCB2-4BCE-A183-78FB74CA6AA1}" type="slidenum">
              <a:rPr lang="en-GB" smtClean="0"/>
              <a:t>1</a:t>
            </a:fld>
            <a:fld id="{AC83568A-1D62-4B78-B152-835DD60CFEE1}" type="slidenum">
              <a:rPr lang="en-GB" smtClean="0"/>
              <a:t>1</a:t>
            </a:fld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85BBCD5-C98E-402D-8814-2827AB36F331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2127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262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9212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E55B-7924-CFB0-DA56-BFD8B720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EB901-3D8E-B1A3-1DB3-7B0F36DDF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70D74-B621-BF79-BF40-6A0B03AB0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BFDB17F-9157-F2A9-B1D7-DA8CDA8AE6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25EC1-6EF0-A2B1-3102-F36FA31A1EF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94284-FB79-0E38-5489-099A46546E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E18B9-CF68-6482-4FE7-D89D6866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26558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2515961"/>
            <a:ext cx="8242176" cy="1362075"/>
          </a:xfrm>
        </p:spPr>
        <p:txBody>
          <a:bodyPr anchor="b"/>
          <a:lstStyle>
            <a:lvl1pPr algn="l">
              <a:defRPr sz="3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3933060"/>
            <a:ext cx="8242176" cy="562869"/>
          </a:xfrm>
        </p:spPr>
        <p:txBody>
          <a:bodyPr anchor="ctr"/>
          <a:lstStyle>
            <a:lvl1pPr marL="0" indent="0">
              <a:buNone/>
              <a:defRPr sz="2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4" y="844596"/>
            <a:ext cx="8963916" cy="565949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3" y="1454150"/>
            <a:ext cx="8964497" cy="5403850"/>
          </a:xfrm>
        </p:spPr>
        <p:txBody>
          <a:bodyPr/>
          <a:lstStyle>
            <a:lvl1pPr>
              <a:lnSpc>
                <a:spcPct val="90000"/>
              </a:lnSpc>
              <a:spcBef>
                <a:spcPts val="1600"/>
              </a:spcBef>
              <a:defRPr b="0"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4" y="844594"/>
            <a:ext cx="8963916" cy="6401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401" y="1484784"/>
            <a:ext cx="4291609" cy="5353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1"/>
          </p:nvPr>
        </p:nvSpPr>
        <p:spPr>
          <a:xfrm>
            <a:off x="4644010" y="1484784"/>
            <a:ext cx="4291609" cy="5353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836712"/>
            <a:ext cx="8964488" cy="7451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513" y="1614664"/>
            <a:ext cx="4464496" cy="7592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513" y="2406752"/>
            <a:ext cx="4464496" cy="44786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1"/>
          </p:nvPr>
        </p:nvSpPr>
        <p:spPr>
          <a:xfrm>
            <a:off x="4644008" y="1614664"/>
            <a:ext cx="4320480" cy="7592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2"/>
          </p:nvPr>
        </p:nvSpPr>
        <p:spPr>
          <a:xfrm>
            <a:off x="4644008" y="2406752"/>
            <a:ext cx="4320480" cy="44786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3" y="836712"/>
            <a:ext cx="8920520" cy="595536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1990-94F9-4C6F-B569-CE8F0CA1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8F2E1-1D29-4185-A598-EF73E08C9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54924"/>
      </p:ext>
    </p:extLst>
  </p:cSld>
  <p:clrMapOvr>
    <a:masterClrMapping/>
  </p:clrMapOvr>
  <p:transition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jpeg"/><Relationship Id="rId11" Type="http://schemas.openxmlformats.org/officeDocument/2006/relationships/image" Target="../media/image3.jpeg"/><Relationship Id="rId1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3532"/>
            <a:ext cx="9144000" cy="1304468"/>
          </a:xfrm>
          <a:prstGeom prst="rect">
            <a:avLst/>
          </a:prstGeom>
        </p:spPr>
      </p:pic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0084" y="844596"/>
            <a:ext cx="8831182" cy="56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513" y="1454150"/>
            <a:ext cx="8831754" cy="4927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-13655" y="6381328"/>
            <a:ext cx="589563" cy="2606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BE093"/>
                </a:solidFill>
              </a:defRPr>
            </a:lvl1pPr>
          </a:lstStyle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 rot="5400000">
            <a:off x="7597454" y="-48233"/>
            <a:ext cx="1080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 rot="5400000">
            <a:off x="8003854" y="-48233"/>
            <a:ext cx="1080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53367"/>
            <a:ext cx="751012" cy="7510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7" y="53367"/>
            <a:ext cx="755576" cy="751012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977"/>
            <a:ext cx="9144000" cy="826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1" r:id="rId2"/>
    <p:sldLayoutId id="2147483703" r:id="rId3"/>
    <p:sldLayoutId id="2147483704" r:id="rId4"/>
    <p:sldLayoutId id="2147483705" r:id="rId5"/>
    <p:sldLayoutId id="2147483706" r:id="rId6"/>
    <p:sldLayoutId id="2147483708" r:id="rId7"/>
  </p:sldLayoutIdLst>
  <p:transition advClick="0"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baseline="0">
          <a:solidFill>
            <a:srgbClr val="00206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Char char="•"/>
        <a:defRPr sz="28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chemeClr val="accent1"/>
        </a:buClr>
        <a:buChar char="–"/>
        <a:defRPr sz="24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har char="•"/>
        <a:defRPr sz="20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HỆ THỐNG QUẢN LÝ BÃI ĐỖ XE THÔNG MINH</a:t>
            </a:r>
          </a:p>
          <a:p>
            <a:r>
              <a:t>SMART PARKING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Sinh viên thực hiện: Hoàng Anh</a:t>
            </a:r>
          </a:p>
          <a:p>
            <a:r>
              <a:t>Đại học Giao thông Vận tải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HỆ THỐNG QUẢN LÝ BÃI ĐỖ XE THÔNG MINH</a:t>
            </a:r>
          </a:p>
          <a:p>
            <a:r>
              <a:t>SMART PARKING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Sinh viên thực hiện: Hoàng Anh</a:t>
            </a:r>
          </a:p>
          <a:p>
            <a:r>
              <a:t>Đại học Giao thông Vận tải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Thực trạng các bãi đỗ xe hiện nay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Ùn tắc cục bộ vào giờ cao điểm</a:t>
            </a:r>
          </a:p>
          <a:p>
            <a:pPr>
              <a:defRPr sz="2400"/>
            </a:pPr>
            <a:r>
              <a:t>- Lấy thẻ, trả tiền mặt kéo dài thời gian</a:t>
            </a:r>
          </a:p>
          <a:p>
            <a:pPr>
              <a:defRPr sz="2400"/>
            </a:pPr>
            <a:r>
              <a:t>- Khói bụi và tiếng ồn tại khu vực soát vé</a:t>
            </a:r>
          </a:p>
        </p:txBody>
      </p:sp>
      <p:pic>
        <p:nvPicPr>
          <p:cNvPr id="4" name="Picture 3" descr="smart_parking_gate_17779945542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Thực trạng các bãi đỗ xe hiện nay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Ùn tắc cục bộ vào giờ cao điểm</a:t>
            </a:r>
          </a:p>
          <a:p>
            <a:pPr>
              <a:defRPr sz="2400"/>
            </a:pPr>
            <a:r>
              <a:t>- Lấy thẻ, trả tiền mặt kéo dài thời gian</a:t>
            </a:r>
          </a:p>
          <a:p>
            <a:pPr>
              <a:defRPr sz="2400"/>
            </a:pPr>
            <a:r>
              <a:t>- Khói bụi và tiếng ồn tại khu vực soát vé</a:t>
            </a:r>
          </a:p>
        </p:txBody>
      </p:sp>
      <p:pic>
        <p:nvPicPr>
          <p:cNvPr id="4" name="Picture 3" descr="smart_parking_gate_17779945542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Rủi ro của phương pháp truyền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Thẻ từ vật lý dễ bị mất mát, đánh tráo</a:t>
            </a:r>
          </a:p>
          <a:p>
            <a:pPr>
              <a:defRPr sz="2400"/>
            </a:pPr>
            <a:r>
              <a:t>- Vé giấy dễ làm giả hoặc rách nát do mưa</a:t>
            </a:r>
          </a:p>
          <a:p>
            <a:pPr>
              <a:defRPr sz="2400"/>
            </a:pPr>
            <a:r>
              <a:t>- Chi phí nhân sự túc trực 24/7 cực kỳ lớn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Rủi ro của phương pháp truyền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Thẻ từ vật lý dễ bị mất mát, đánh tráo</a:t>
            </a:r>
          </a:p>
          <a:p>
            <a:pPr>
              <a:defRPr sz="2400"/>
            </a:pPr>
            <a:r>
              <a:t>- Vé giấy dễ làm giả hoặc rách nát do mưa</a:t>
            </a:r>
          </a:p>
          <a:p>
            <a:pPr>
              <a:defRPr sz="2400"/>
            </a:pPr>
            <a:r>
              <a:t>- Chi phí nhân sự túc trực 24/7 cực kỳ lớn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Mục tiêu của Dự án NCKH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Hiện đại hóa hoàn toàn quy trình gửi xe.</a:t>
            </a:r>
          </a:p>
          <a:p>
            <a:pPr>
              <a:defRPr sz="2400"/>
            </a:pPr>
            <a:r>
              <a:t>- Tự động hóa thanh toán, tiến tới xã hội không tiền mặt.</a:t>
            </a:r>
          </a:p>
          <a:p>
            <a:pPr>
              <a:defRPr sz="2400"/>
            </a:pPr>
            <a:r>
              <a:t>- Ứng dụng công nghệ AI để tối ưu trải nghiệm người dùng.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Mục tiêu của Dự án NCKH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Hiện đại hóa hoàn toàn quy trình gửi xe.</a:t>
            </a:r>
          </a:p>
          <a:p>
            <a:pPr>
              <a:defRPr sz="2400"/>
            </a:pPr>
            <a:r>
              <a:t>- Tự động hóa thanh toán, tiến tới xã hội không tiền mặt.</a:t>
            </a:r>
          </a:p>
          <a:p>
            <a:pPr>
              <a:defRPr sz="2400"/>
            </a:pPr>
            <a:r>
              <a:t>- Ứng dụng công nghệ AI để tối ưu trải nghiệm người dùng.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Giải pháp: Triết lý 3 KHÔNG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KHÔNG CHỜ ĐỢI: Camera nhận diện AI siêu tốc.</a:t>
            </a:r>
          </a:p>
          <a:p>
            <a:pPr>
              <a:defRPr sz="2400"/>
            </a:pPr>
            <a:r>
              <a:t>- KHÔNG CHẠM: Barie điều khiển mở tự động.</a:t>
            </a:r>
          </a:p>
          <a:p>
            <a:pPr>
              <a:defRPr sz="2400"/>
            </a:pPr>
            <a:r>
              <a:t>- KHÔNG TIỀN MẶT: Thanh toán tự động qua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Giải pháp: Triết lý 3 KHÔNG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KHÔNG CHỜ ĐỢI: Camera nhận diện AI siêu tốc.</a:t>
            </a:r>
          </a:p>
          <a:p>
            <a:pPr>
              <a:defRPr sz="2400"/>
            </a:pPr>
            <a:r>
              <a:t>- KHÔNG CHẠM: Barie điều khiển mở tự động.</a:t>
            </a:r>
          </a:p>
          <a:p>
            <a:pPr>
              <a:defRPr sz="2400"/>
            </a:pPr>
            <a:r>
              <a:t>- KHÔNG TIỀN MẶT: Thanh toán tự động qua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Kiến trúc Hệ thống Tổng thể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Hệ thống phân tán với 3 cụm liên kết chặt chẽ:</a:t>
            </a:r>
          </a:p>
          <a:p>
            <a:pPr>
              <a:defRPr sz="2400"/>
            </a:pPr>
            <a:r>
              <a:t>1. Cụm AI Local: Mắt thần đọc biển số xe.</a:t>
            </a:r>
          </a:p>
          <a:p>
            <a:pPr>
              <a:defRPr sz="2400"/>
            </a:pPr>
            <a:r>
              <a:t>2. Backend Server: Bộ não Python Flask/MySQL.</a:t>
            </a:r>
          </a:p>
          <a:p>
            <a:pPr>
              <a:defRPr sz="2400"/>
            </a:pPr>
            <a:r>
              <a:t>3. Mobile App: Android Retrofit làm điểm chạm.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Kiến trúc Hệ thống Tổng thể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Hệ thống phân tán với 3 cụm liên kết chặt chẽ:</a:t>
            </a:r>
          </a:p>
          <a:p>
            <a:pPr>
              <a:defRPr sz="2400"/>
            </a:pPr>
            <a:r>
              <a:t>1. Cụm AI Local: Mắt thần đọc biển số xe.</a:t>
            </a:r>
          </a:p>
          <a:p>
            <a:pPr>
              <a:defRPr sz="2400"/>
            </a:pPr>
            <a:r>
              <a:t>2. Backend Server: Bộ não Python Flask/MySQL.</a:t>
            </a:r>
          </a:p>
          <a:p>
            <a:pPr>
              <a:defRPr sz="2400"/>
            </a:pPr>
            <a:r>
              <a:t>3. Mobile App: Android Retrofit làm điểm chạm.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Lõi công nghệ 1: Camera AI Nhận diện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Hoạt động liên tục tại cửa vào/ra.</a:t>
            </a:r>
          </a:p>
          <a:p>
            <a:pPr>
              <a:defRPr sz="2400"/>
            </a:pPr>
            <a:r>
              <a:t>- Sử dụng Computer Vision và Deep Learning.</a:t>
            </a:r>
          </a:p>
          <a:p>
            <a:pPr>
              <a:defRPr sz="2400"/>
            </a:pPr>
            <a:r>
              <a:t>- Bóc tách ký tự và gửi lệnh trong vài mili-giây.</a:t>
            </a:r>
          </a:p>
        </p:txBody>
      </p:sp>
      <p:pic>
        <p:nvPicPr>
          <p:cNvPr id="4" name="Picture 3" descr="smart_parking_gate_17779945542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Lõi công nghệ 2: Backend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Bộ trung tâm xử lý dữ liệu và điều phối.</a:t>
            </a:r>
          </a:p>
          <a:p>
            <a:pPr>
              <a:defRPr sz="2400"/>
            </a:pPr>
            <a:r>
              <a:t>- Cung cấp RESTful API tốc độ cực cao.</a:t>
            </a:r>
          </a:p>
          <a:p>
            <a:pPr>
              <a:defRPr sz="2400"/>
            </a:pPr>
            <a:r>
              <a:t>- Giao tiếp thời gian thực với phần cứng Barie.</a:t>
            </a:r>
          </a:p>
          <a:p>
            <a:pPr>
              <a:defRPr sz="2400"/>
            </a:pPr>
            <a:r>
              <a:t>- Lưu trữ dữ liệu an toàn trên MySQL.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Trải nghiệm: Mobile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Giao diện tối giản, hiện đại (Tông xanh Navy).</a:t>
            </a:r>
          </a:p>
          <a:p>
            <a:pPr>
              <a:defRPr sz="2400"/>
            </a:pPr>
            <a:r>
              <a:t>- Quản lý phương tiện và theo dõi trạng thái Real-time.</a:t>
            </a:r>
          </a:p>
          <a:p>
            <a:pPr>
              <a:defRPr sz="2400"/>
            </a:pPr>
            <a:r>
              <a:t>- Quét QR dự phòng khi Camera bị chói lóa/lỗi.</a:t>
            </a:r>
          </a:p>
          <a:p>
            <a:pPr>
              <a:defRPr sz="2400"/>
            </a:pPr>
            <a:r>
              <a:t>- Quản lý số dư ví điện tử cá nhân.</a:t>
            </a:r>
          </a:p>
        </p:txBody>
      </p:sp>
      <p:pic>
        <p:nvPicPr>
          <p:cNvPr id="4" name="Picture 3" descr="parking_mobile_app_17779946707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Thách thức lớn nhất: Thanh toán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Bài toán: Làm sao để nạp tiền tự động 24/7?</a:t>
            </a:r>
          </a:p>
          <a:p>
            <a:pPr>
              <a:defRPr sz="2400"/>
            </a:pPr>
            <a:r>
              <a:t>- Các hệ thống cũ yêu cầu Admin duyệt tay (chậm chạp).</a:t>
            </a:r>
          </a:p>
          <a:p>
            <a:pPr>
              <a:defRPr sz="2400"/>
            </a:pPr>
            <a:r>
              <a:t>- Hoặc trả phí đắt đỏ cho VNPAY, MoMo.</a:t>
            </a:r>
          </a:p>
          <a:p>
            <a:pPr>
              <a:defRPr sz="2400"/>
            </a:pPr>
            <a:r>
              <a:t>=&gt; Cần giải pháp đối soát ngân hàng Miễn phí &amp; Tự động.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Giải pháp: Robot tự động RPA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Phát triển công cụ RPA (Robotic Process Automation).</a:t>
            </a:r>
          </a:p>
          <a:p>
            <a:pPr>
              <a:defRPr sz="2400"/>
            </a:pPr>
            <a:r>
              <a:t>- Sử dụng NodeJS/Puppeteer chạy nền trên máy chủ.</a:t>
            </a:r>
          </a:p>
          <a:p>
            <a:pPr>
              <a:defRPr sz="2400"/>
            </a:pPr>
            <a:r>
              <a:t>- Tự động đăng nhập Internet Banking của MB Bank.</a:t>
            </a:r>
          </a:p>
          <a:p>
            <a:pPr>
              <a:defRPr sz="2400"/>
            </a:pPr>
            <a:r>
              <a:t>- Quét lịch sử giao dịch liên tục mỗi 5 giây.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Rào cản kỹ thuật: CAPTCHA Ngân hàng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Ngân hàng MB Bank dùng ảnh CAPTCHA để chống Robot.</a:t>
            </a:r>
          </a:p>
          <a:p>
            <a:pPr>
              <a:defRPr sz="2400"/>
            </a:pPr>
            <a:r>
              <a:t>- Các tool RPA bình thường sẽ bị chặn 100%.</a:t>
            </a:r>
          </a:p>
          <a:p>
            <a:pPr>
              <a:defRPr sz="2400"/>
            </a:pPr>
            <a:r>
              <a:t>- Giải pháp: Bắt buộc phải có trí tuệ nhân tạo can thiệp.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Đột phá: AI Giải mã CAPTCHA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Tự huấn luyện mô hình Mạng Nơ-ron Tích chập (CNN).</a:t>
            </a:r>
          </a:p>
          <a:p>
            <a:pPr>
              <a:defRPr sz="2400"/>
            </a:pPr>
            <a:r>
              <a:t>- Sử dụng nền tảng TensorFlow mạnh mẽ.</a:t>
            </a:r>
          </a:p>
          <a:p>
            <a:pPr>
              <a:defRPr sz="2400"/>
            </a:pPr>
            <a:r>
              <a:t>- AI tự động khử nhiễu, tách nền và đọc chữ số.</a:t>
            </a:r>
          </a:p>
          <a:p>
            <a:pPr>
              <a:defRPr sz="2400"/>
            </a:pPr>
            <a:r>
              <a:t>- Hiệu suất giải mã chính xác cao, thời gian tính bằng ms.</a:t>
            </a:r>
          </a:p>
        </p:txBody>
      </p:sp>
      <p:pic>
        <p:nvPicPr>
          <p:cNvPr id="4" name="Picture 3" descr="ai_neural_network_1777994932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Quy trình Thanh toán Khép kín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B1: App sinh mã VietQR chuyên biệt.</a:t>
            </a:r>
          </a:p>
          <a:p>
            <a:pPr>
              <a:defRPr sz="2400"/>
            </a:pPr>
            <a:r>
              <a:t>- B2: Khách chuyển khoản -&gt; MB Bank nhận tiền.</a:t>
            </a:r>
          </a:p>
          <a:p>
            <a:pPr>
              <a:defRPr sz="2400"/>
            </a:pPr>
            <a:r>
              <a:t>- B3: AI vượt rào, Robot báo về Server.</a:t>
            </a:r>
          </a:p>
          <a:p>
            <a:pPr>
              <a:defRPr sz="2400"/>
            </a:pPr>
            <a:r>
              <a:t>- B4: Server cộng tiền vào ví trong 3 giây. KHÔNG CẦN CON NGƯỜI.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Đánh giá Kết quả Đạt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Xây dựng thành công toàn bộ hệ sinh thái phần mềm.</a:t>
            </a:r>
          </a:p>
          <a:p>
            <a:pPr>
              <a:defRPr sz="2400"/>
            </a:pPr>
            <a:r>
              <a:t>- Thời gian lưu thông qua cổng cực ngắn (&lt; 3 giây).</a:t>
            </a:r>
          </a:p>
          <a:p>
            <a:pPr>
              <a:defRPr sz="2400"/>
            </a:pPr>
            <a:r>
              <a:t>- Ứng dụng thành công AI vào thực tiễn phức tạp (ngân hàng).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Định hướng Mở rộng trong tương 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- Cải tiến thuật toán chỉ đường (Indoor Navigation) cho bãi đỗ.</a:t>
            </a:r>
          </a:p>
          <a:p>
            <a:pPr>
              <a:defRPr sz="2400"/>
            </a:pPr>
            <a:r>
              <a:t>- Mở rộng App trên nền tảng iOS (Apple).</a:t>
            </a:r>
          </a:p>
          <a:p>
            <a:pPr>
              <a:defRPr sz="2400"/>
            </a:pPr>
            <a:r>
              <a:t>- Hỗ trợ đa dạng ngân hàng hơn ngoài MB Bank.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XIN CHÂN THÀNH CẢM ƠN HỘI ĐỒNG!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Em rất mong nhận được những góp ý, phản biện từ quý Thầy Cô</a:t>
            </a:r>
          </a:p>
          <a:p>
            <a:pPr>
              <a:defRPr sz="2400"/>
            </a:pPr>
            <a:r>
              <a:t>để đề tài được hoàn thiện hơn.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tley1">
  <a:themeElements>
    <a:clrScheme name="Bentley Color Palette">
      <a:dk1>
        <a:srgbClr val="002A44"/>
      </a:dk1>
      <a:lt1>
        <a:srgbClr val="FFFFFF"/>
      </a:lt1>
      <a:dk2>
        <a:srgbClr val="000000"/>
      </a:dk2>
      <a:lt2>
        <a:srgbClr val="A6AFB7"/>
      </a:lt2>
      <a:accent1>
        <a:srgbClr val="55A51C"/>
      </a:accent1>
      <a:accent2>
        <a:srgbClr val="002A44"/>
      </a:accent2>
      <a:accent3>
        <a:srgbClr val="B2D1AE"/>
      </a:accent3>
      <a:accent4>
        <a:srgbClr val="A6AFB7"/>
      </a:accent4>
      <a:accent5>
        <a:srgbClr val="61BC47"/>
      </a:accent5>
      <a:accent6>
        <a:srgbClr val="005386"/>
      </a:accent6>
      <a:hlink>
        <a:srgbClr val="55A51C"/>
      </a:hlink>
      <a:folHlink>
        <a:srgbClr val="B2D1AE"/>
      </a:folHlink>
    </a:clrScheme>
    <a:fontScheme name="GTCC">
      <a:majorFont>
        <a:latin typeface="Arial Unicode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  <a:ea typeface="MS PGothic"/>
            <a:cs typeface="MS PGothic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MS PGothic"/>
            <a:cs typeface="MS PGothic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err="1" smtClean="0">
            <a:latin typeface="+mn-lt"/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Bentley1</Template>
  <Application>Microsoft Office PowerPoint</Application>
  <PresentationFormat>On-screen Show (4:3)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Bentley1</vt:lpstr>
      <vt:lpstr>ỨNG DỤNG TRÍ TUỆ NHÂN TẠO TRONG NHẬN DIỆN BIỂN SỐ XE VÀ XÂY DỰNG HỆ THỐNG QUẢN LÝ BÃI ĐỖ XE THÔNG MINH </vt:lpstr>
      <vt:lpstr>Nội Dung Trình Bày</vt:lpstr>
      <vt:lpstr>Tổng quan bài toán &amp; mục tiêu nghiên cứu </vt:lpstr>
      <vt:lpstr>PowerPoint Presentation</vt:lpstr>
      <vt:lpstr>PowerPoint Presentation</vt:lpstr>
      <vt:lpstr>PowerPoint Presentation</vt:lpstr>
    </vt:vector>
  </TitlesOfParts>
  <Company>Bentley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BalvitJohl</dc:creator>
  <cp:revision>4</cp:revision>
  <cp:lastPrinted>2018-02-27T08:02:09Z</cp:lastPrinted>
  <dcterms:created xsi:type="dcterms:W3CDTF">2010-05-31T01:00:33Z</dcterms:created>
  <dcterms:modified xsi:type="dcterms:W3CDTF">2026-05-05T14:57:19Z</dcterms:modified>
</cp:coreProperties>
</file>