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BE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40A0B-D44F-B641-AB97-0C347E410FB1}" v="2" dt="2026-05-05T10:27:06.106"/>
    <p1510:client id="{3FAED6F1-4A1E-31D9-EAD7-1AFFB596B697}" v="73" dt="2026-05-05T14:52:38.350"/>
    <p1510:client id="{818A2B3F-20BC-B5A2-A1AC-7FDB2B1EB13C}" v="9" dt="2026-05-05T14:53:34.718"/>
    <p1510:client id="{9EE3C168-585A-48D4-0458-E279CA114C27}" v="2" dt="2026-05-05T14:56:45.996"/>
    <p1510:client id="{BC12390F-41EC-A344-88F4-6380B64DB962}" v="446" dt="2026-05-05T10:09:36.659"/>
    <p1510:client id="{C042D782-4301-432E-873F-6A5850D3816D}" v="10" dt="2026-05-05T14:28:11.001"/>
    <p1510:client id="{DFB15B5E-E52F-02DC-CE91-1DF78375EE7B}" v="115" dt="2026-05-05T14:38:10.678"/>
    <p1510:client id="{E44AB976-9C72-C85B-0020-2C815D182FF1}" v="170" dt="2026-05-05T10:39:52.159"/>
    <p1510:client id="{E79EBD29-95BF-8496-21E6-98C736831DBE}" v="26" dt="2026-05-05T14:53:13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74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9372" y="109301"/>
            <a:ext cx="5886259" cy="39834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>
              <a:defRPr sz="1200"/>
            </a:lvl1pPr>
          </a:lstStyle>
          <a:p>
            <a:pPr algn="ctr"/>
            <a:r>
              <a:rPr lang="en-US" sz="800"/>
              <a:t>University of Transport and Communications</a:t>
            </a:r>
          </a:p>
          <a:p>
            <a:pPr algn="ctr"/>
            <a:r>
              <a:rPr lang="en-US" sz="800" b="1"/>
              <a:t>Faculty of International Education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2042" y="9430092"/>
            <a:ext cx="2834125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>
              <a:defRPr sz="1200"/>
            </a:lvl1pPr>
          </a:lstStyle>
          <a:p>
            <a:r>
              <a:rPr lang="en-US" sz="800"/>
              <a:t>UTC Students’ Scientific Research Presentation</a:t>
            </a:r>
            <a:endParaRPr lang="en-US" sz="800" baseline="30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455188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>
              <a:defRPr sz="1200"/>
            </a:lvl1pPr>
          </a:lstStyle>
          <a:p>
            <a:fld id="{FF298A8D-1A9E-4D7F-9B4D-C2DD0B5E80CC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8132487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D884B9E-D7A9-41C8-8110-9A26BB79FE67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117" tIns="46058" rIns="92117" bIns="4605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2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9F3C4E8-3E9E-4B64-96E1-F10754AF871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99083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98E28D8C-B07E-428B-8787-BB61D8C1BAF1}" type="slidenum">
              <a:rPr lang="en-GB" smtClean="0"/>
              <a:t>1</a:t>
            </a:fld>
            <a:fld id="{5138228C-BCB2-4BCE-A183-78FB74CA6AA1}" type="slidenum">
              <a:rPr lang="en-GB" smtClean="0"/>
              <a:t>1</a:t>
            </a:fld>
            <a:fld id="{AC83568A-1D62-4B78-B152-835DD60CFEE1}" type="slidenum">
              <a:rPr lang="en-GB" smtClean="0"/>
              <a:t>1</a:t>
            </a:fld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85BBCD5-C98E-402D-8814-2827AB36F331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212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262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212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E55B-7924-CFB0-DA56-BFD8B720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EB901-3D8E-B1A3-1DB3-7B0F36DD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70D74-B621-BF79-BF40-6A0B03AB0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FDB17F-9157-F2A9-B1D7-DA8CDA8AE6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5EC1-6EF0-A2B1-3102-F36FA31A1EF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94284-FB79-0E38-5489-099A46546E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E18B9-CF68-6482-4FE7-D89D6866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26558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2515961"/>
            <a:ext cx="8242176" cy="1362075"/>
          </a:xfrm>
        </p:spPr>
        <p:txBody>
          <a:bodyPr anchor="b"/>
          <a:lstStyle>
            <a:lvl1pPr algn="l">
              <a:defRPr sz="3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3933060"/>
            <a:ext cx="8242176" cy="562869"/>
          </a:xfrm>
        </p:spPr>
        <p:txBody>
          <a:bodyPr anchor="ctr"/>
          <a:lstStyle>
            <a:lvl1pPr marL="0" indent="0">
              <a:buNone/>
              <a:defRPr sz="2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6"/>
            <a:ext cx="8963916" cy="565949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3" y="1454150"/>
            <a:ext cx="8964497" cy="5403850"/>
          </a:xfrm>
        </p:spPr>
        <p:txBody>
          <a:bodyPr/>
          <a:lstStyle>
            <a:lvl1pPr>
              <a:lnSpc>
                <a:spcPct val="90000"/>
              </a:lnSpc>
              <a:spcBef>
                <a:spcPts val="1600"/>
              </a:spcBef>
              <a:defRPr b="0"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4"/>
            <a:ext cx="8963916" cy="6401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01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4644010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8964488" cy="7451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513" y="1614664"/>
            <a:ext cx="4464496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513" y="2406752"/>
            <a:ext cx="4464496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644008" y="1614664"/>
            <a:ext cx="4320480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2"/>
          </p:nvPr>
        </p:nvSpPr>
        <p:spPr>
          <a:xfrm>
            <a:off x="4644008" y="2406752"/>
            <a:ext cx="4320480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836712"/>
            <a:ext cx="8920520" cy="595536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990-94F9-4C6F-B569-CE8F0CA1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8F2E1-1D29-4185-A598-EF73E08C9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4924"/>
      </p:ext>
    </p:extLst>
  </p:cSld>
  <p:clrMapOvr>
    <a:masterClrMapping/>
  </p:clrMapOvr>
  <p:transition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jpeg"/><Relationship Id="rId11" Type="http://schemas.openxmlformats.org/officeDocument/2006/relationships/image" Target="../media/image3.jpeg"/><Relationship Id="rId1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3532"/>
            <a:ext cx="9144000" cy="1304468"/>
          </a:xfrm>
          <a:prstGeom prst="rect">
            <a:avLst/>
          </a:prstGeom>
        </p:spPr>
      </p:pic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084" y="844596"/>
            <a:ext cx="8831182" cy="56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513" y="1454150"/>
            <a:ext cx="8831754" cy="4927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-13655" y="6381328"/>
            <a:ext cx="589563" cy="2606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BE093"/>
                </a:solidFill>
              </a:defRPr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 rot="5400000">
            <a:off x="75974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 rot="5400000">
            <a:off x="80038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53367"/>
            <a:ext cx="751012" cy="7510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7" y="53367"/>
            <a:ext cx="755576" cy="751012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977"/>
            <a:ext cx="9144000" cy="82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1" r:id="rId2"/>
    <p:sldLayoutId id="2147483703" r:id="rId3"/>
    <p:sldLayoutId id="2147483704" r:id="rId4"/>
    <p:sldLayoutId id="2147483705" r:id="rId5"/>
    <p:sldLayoutId id="2147483706" r:id="rId6"/>
    <p:sldLayoutId id="2147483708" r:id="rId7"/>
  </p:sldLayoutIdLst>
  <p:transition advClick="0"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baseline="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har char="•"/>
        <a:defRPr sz="28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chemeClr val="accent1"/>
        </a:buClr>
        <a:buChar char="–"/>
        <a:defRPr sz="24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har char="•"/>
        <a:defRPr sz="20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Ứng dụng trí tuệ nhân tạo trong nhận diện biển số xe</a:t>
            </a:r>
          </a:p>
          <a:p>
            <a:r>
              <a:t>và xây dựng hệ thống quản lý bãi đỗ xe thông minh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Trường Đại học Giao thông Vận tải</a:t>
            </a:r>
          </a:p>
          <a:p>
            <a:r>
              <a:t>Đề tài Nghiên cứu khoa học sinh viên năm 2026</a:t>
            </a:r>
          </a:p>
          <a:p>
            <a:r>
              <a:t>Sinh viên thực hiện: ...</a:t>
            </a:r>
          </a:p>
          <a:p>
            <a:r>
              <a:t>Giảng viên hướng dẫn: TS. Phạm Đình Phong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Ứng dụng trí tuệ nhân tạo trong nhận diện biển số xe</a:t>
            </a:r>
          </a:p>
          <a:p>
            <a:r>
              <a:t>và xây dựng hệ thống quản lý bãi đỗ xe thông minh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Trường Đại học Giao thông Vận tải</a:t>
            </a:r>
          </a:p>
          <a:p>
            <a:r>
              <a:t>Đề tài Nghiên cứu khoa học sinh viên năm 2026</a:t>
            </a:r>
          </a:p>
          <a:p>
            <a:r>
              <a:t>Sinh viên thực hiện: ...</a:t>
            </a:r>
          </a:p>
          <a:p>
            <a:r>
              <a:t>Giảng viên hướng dẫn: TS. Phạm Đình Phong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Bài toán thực tế và mục tiêu đề tài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Kiến trúc hệ thống và công nghệ sử dụng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Module AI nhận diện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Ứng dụng hệ thống và demo sản phẩm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Kết luận và hướng phát triển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Bài toán thực tế và mục tiêu đề tài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Kiến trúc hệ thống và công nghệ sử dụng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Module AI nhận diện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Ứng dụng hệ thống và demo sản phẩm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BÀI TOÁN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Số lượng phương tiện cá nhân ngày càng tăng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Nhu cầu quản lý bãi đỗ xe ngày càng lớn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Nhiều bãi xe vẫn quản lý thủ công hoặc bán tự động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Nhân viên phải kiểm tra thẻ, ghi biển số hoặc nhập dữ liệu bằng tay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9377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BÀI TOÁN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Số lượng phương tiện cá nhân ngày càng tăng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Nhu cầu quản lý bãi đỗ xe ngày càng lớn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Nhiều bãi xe vẫn quản lý thủ công hoặc bán tự động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Nhân viên phải kiểm tra thẻ, ghi biển số hoặc nhập dữ liệu bằng tay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9377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HẠN CHẾ CỦA CÁCH QUẢN LÝ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Xử lý xe vào/ra chậm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Dễ sai sót khi nhập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Khó tra cứu lịch sử giao dịch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Tốn nhân lực vận hành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Người dùng khó tự kiểm tra thông tin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9377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HẠN CHẾ CỦA CÁCH QUẢN LÝ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Xử lý xe vào/ra chậm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Dễ sai sót khi nhập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Khó tra cứu lịch sử giao dịch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Tốn nhân lực vận hành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Người dùng khó tự kiểm tra thông tin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9377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Xây dựng hệ thống quản lý bãi đỗ xe thông minh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Nhận diện biển số xe tự động bằng AI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Xây dựng phần mềm quản lý cho nhân viên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Xây dựng ứng dụng di động cho người dùng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Kết nối hệ thống qua API và cơ sở dữ liệu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Xây dựng hệ thống quản lý bãi đỗ xe thông minh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Nhận diện biển số xe tự động bằng AI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Xây dựng phần mềm quản lý cho nhân viên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Xây dựng ứng dụng di động cho người dùng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Kết nối hệ thống qua API và cơ sở dữ liệu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PHẠM VI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Đối tượng: biển số xe Việt Nam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Công nghệ nhận diện: YOLOv8 + EasyOCR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Phần mềm quản lý: Desktop App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Ứng dụng người dùng: Android App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Cơ sở dữ liệu và API kết nối hệ thống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PHẠM VI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Đối tượng: biển số xe Việt Nam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Công nghệ nhận diện: YOLOv8 + EasyOCR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Phần mềm quản lý: Desktop App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Ứng dụng người dùng: Android App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Cơ sở dữ liệu và API kết nối hệ thống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KIẾN TRÚC TỔNG THỂ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1. Camera / Video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      ↓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2. YOLOv8 phát hiện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      ↓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3. EasyOCR nhận dạng ký tự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      ↓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4. Backend / API + Database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      ↓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5. Desktop App / Android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LUỒNG XE VÀO / XE 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* Xe vào: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Camera → nhận diện biển số → tạo phiên gửi xe → lưu thời gian vào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Xe ra: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Camera → nhận diện lại biển số → đối chiếu phiên gửi xe → cập nhật lịch sử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=&gt; Biển số là thông tin định danh chính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Python: xử lý ảnh, AI, phần mềm quản lý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OpenCV: đọc camera/video và xử lý ảnh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YOLOv8: phát hiện vùng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EasyOCR: nhận dạng ký tự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Flask REST API: kết nối app và server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Database: lưu user, biển số, phiên gửi xe, lịch sử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Android: ứng dụng người dùng</a:t>
            </a:r>
          </a:p>
        </p:txBody>
      </p:sp>
      <p:pic>
        <p:nvPicPr>
          <p:cNvPr id="4" name="Picture 3" descr="web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548983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CƠ SỞ DỮ LIỆU VÀ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* Cơ sở dữ liệu lưu: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USERS: tài khoản người dùng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OWNED_PLATES: biển số của người dùng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ACTIVE_SESSIONS: phiên gửi xe đang hoạt động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HISTORY_RECORDS: lịch sử giao dịch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SETTINGS: cài đặt hệ thống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REMOTE_COMMANDS: lệnh điều khiển từ xa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=&gt; API trao đổi dữ liệu giữa Android App và hệ thống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PIPELINE AI NHẬN DIỆN BIỂN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1. Ảnh / Video đầu vào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2. → Phát hiện vùng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3. → Cắt ảnh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4. → Tiền xử lý ảnh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5. → OCR đọc ký tự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6. → Hậu xử lý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7. → Kết quả biển số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YOLOv8 PHÁT HIỆN VÙNG BIỂN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Sử dụng mô hình YOLOv8s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Đầu vào: frame ảnh/video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Đầu ra: bounding box vùng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Ưu điểm: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Tốc độ nhanh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Phù hợp xử lý gần thời gian thực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Có thể fine-tune cho bài toán biển số xe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DỮ LIỆU VÀ HUẤN LUYỆN MÔ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Dataset: Roboflow Universe (Định dạng YOLOv8)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Tập train: 6906 ảnh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Tập validation: 1973 ảnh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Model: YOLOv8s pretrained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Huấn luyện: 50 epoch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Môi trường: Google Colab, GPU Tesla T4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Trọng số sử dụng: best.pt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EASYOCR, TIỀN XỬ LÝ VÀ HẬU XỬ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* Tiền xử lý ảnh: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Cắt vùng biển số, Chuyển ảnh xám, Tăng tương phản, Khử nhiễu, Làm rõ ký tự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EasyOCR đọc ký tự trên biển số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Hậu xử lý lỗi OCR: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O ↔ 0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I ↔ 1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S ↔ 5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 ↔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ROLLING VOTE VÀ KẾT QUẢ MÔ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* Rolling Vote: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Lấy kết quả từ nhiều khung hình liên tiếp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Chọn kết quả xuất hiện ổn định nhất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Giảm lỗi do ảnh mờ, nghiêng, thiếu sáng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Kết quả đánh giá: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Precision = 0.979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Recall = 0.966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mAP@0.5 = 0.987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PHẦN MỀM QUẢN LÝ CHO NHÂN VIÊN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Dashboard tổng quan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Theo dõi xe đang gửi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Xem lịch sử giao dịch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Quản lý người dùng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Tự động ghi nhận biển số khi nhận diện thành công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APP NGƯỜI DÙNG 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Đăng nhập tài khoản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Xem số dư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Xem lịch sử gửi xe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Xem thông tin tài khoản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Quản lý thông tin biển số</a:t>
            </a:r>
          </a:p>
        </p:txBody>
      </p:sp>
      <p:pic>
        <p:nvPicPr>
          <p:cNvPr id="4" name="Picture 3" descr="web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548983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DEMO, KẾT QUẢ VÀ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* Demo workflow: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Nhận diện biển số -&gt; Lưu dữ liệu -&gt; Hiển thị trên app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Kết quả đạt được: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Pipeline nhận diện biển số bằng AI, Desktop App, Android App, API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* Hướng phát triển: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Bổ sung dữ liệu thực tế, triển khai cloud, IoT/cảm biến chỗ trống, thanh toán tự động, tăng cường bảo mật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tley1">
  <a:themeElements>
    <a:clrScheme name="Bentley Color Palette">
      <a:dk1>
        <a:srgbClr val="002A44"/>
      </a:dk1>
      <a:lt1>
        <a:srgbClr val="FFFFFF"/>
      </a:lt1>
      <a:dk2>
        <a:srgbClr val="000000"/>
      </a:dk2>
      <a:lt2>
        <a:srgbClr val="A6AFB7"/>
      </a:lt2>
      <a:accent1>
        <a:srgbClr val="55A51C"/>
      </a:accent1>
      <a:accent2>
        <a:srgbClr val="002A44"/>
      </a:accent2>
      <a:accent3>
        <a:srgbClr val="B2D1AE"/>
      </a:accent3>
      <a:accent4>
        <a:srgbClr val="A6AFB7"/>
      </a:accent4>
      <a:accent5>
        <a:srgbClr val="61BC47"/>
      </a:accent5>
      <a:accent6>
        <a:srgbClr val="005386"/>
      </a:accent6>
      <a:hlink>
        <a:srgbClr val="55A51C"/>
      </a:hlink>
      <a:folHlink>
        <a:srgbClr val="B2D1AE"/>
      </a:folHlink>
    </a:clrScheme>
    <a:fontScheme name="GTCC">
      <a:majorFont>
        <a:latin typeface="Arial Unicode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  <a:ea typeface="MS PGothic"/>
            <a:cs typeface="MS PGothic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/>
            <a:cs typeface="MS PGothic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err="1" smtClean="0">
            <a:latin typeface="+mn-lt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Bentley1</Template>
  <Application>Microsoft Office PowerPoint</Application>
  <PresentationFormat>On-screen Show (4:3)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Bentley1</vt:lpstr>
      <vt:lpstr>ỨNG DỤNG TRÍ TUỆ NHÂN TẠO TRONG NHẬN DIỆN BIỂN SỐ XE VÀ XÂY DỰNG HỆ THỐNG QUẢN LÝ BÃI ĐỖ XE THÔNG MINH </vt:lpstr>
      <vt:lpstr>Nội Dung Trình Bày</vt:lpstr>
      <vt:lpstr>Tổng quan bài toán &amp; mục tiêu nghiên cứu </vt:lpstr>
      <vt:lpstr>PowerPoint Presentation</vt:lpstr>
      <vt:lpstr>PowerPoint Presentation</vt:lpstr>
      <vt:lpstr>PowerPoint Presentation</vt:lpstr>
    </vt:vector>
  </TitlesOfParts>
  <Company>Bentley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BalvitJohl</dc:creator>
  <cp:revision>4</cp:revision>
  <cp:lastPrinted>2018-02-27T08:02:09Z</cp:lastPrinted>
  <dcterms:created xsi:type="dcterms:W3CDTF">2010-05-31T01:00:33Z</dcterms:created>
  <dcterms:modified xsi:type="dcterms:W3CDTF">2026-05-05T14:57:19Z</dcterms:modified>
</cp:coreProperties>
</file>