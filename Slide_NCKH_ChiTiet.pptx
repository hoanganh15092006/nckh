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MS PGothic" pitchFamily="34" charset="-128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FBE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840A0B-D44F-B641-AB97-0C347E410FB1}" v="2" dt="2026-05-05T10:27:06.106"/>
    <p1510:client id="{3FAED6F1-4A1E-31D9-EAD7-1AFFB596B697}" v="73" dt="2026-05-05T14:52:38.350"/>
    <p1510:client id="{818A2B3F-20BC-B5A2-A1AC-7FDB2B1EB13C}" v="9" dt="2026-05-05T14:53:34.718"/>
    <p1510:client id="{9EE3C168-585A-48D4-0458-E279CA114C27}" v="2" dt="2026-05-05T14:56:45.996"/>
    <p1510:client id="{BC12390F-41EC-A344-88F4-6380B64DB962}" v="446" dt="2026-05-05T10:09:36.659"/>
    <p1510:client id="{C042D782-4301-432E-873F-6A5850D3816D}" v="10" dt="2026-05-05T14:28:11.001"/>
    <p1510:client id="{DFB15B5E-E52F-02DC-CE91-1DF78375EE7B}" v="115" dt="2026-05-05T14:38:10.678"/>
    <p1510:client id="{E44AB976-9C72-C85B-0020-2C815D182FF1}" v="170" dt="2026-05-05T10:39:52.159"/>
    <p1510:client id="{E79EBD29-95BF-8496-21E6-98C736831DBE}" v="26" dt="2026-05-05T14:53:13.1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744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6"/>
        <p:guide pos="214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19372" y="109301"/>
            <a:ext cx="5886259" cy="398341"/>
          </a:xfrm>
          <a:prstGeom prst="rect">
            <a:avLst/>
          </a:prstGeom>
        </p:spPr>
        <p:txBody>
          <a:bodyPr vert="horz" lIns="92117" tIns="46058" rIns="92117" bIns="46058" rtlCol="0"/>
          <a:lstStyle>
            <a:lvl1pPr algn="l">
              <a:defRPr sz="1200"/>
            </a:lvl1pPr>
          </a:lstStyle>
          <a:p>
            <a:pPr algn="ctr"/>
            <a:r>
              <a:rPr lang="en-US" sz="800"/>
              <a:t>University of Transport and Communications</a:t>
            </a:r>
          </a:p>
          <a:p>
            <a:pPr algn="ctr"/>
            <a:r>
              <a:rPr lang="en-US" sz="800" b="1"/>
              <a:t>Faculty of International Education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92042" y="9430092"/>
            <a:ext cx="2834125" cy="388831"/>
          </a:xfrm>
          <a:prstGeom prst="rect">
            <a:avLst/>
          </a:prstGeom>
        </p:spPr>
        <p:txBody>
          <a:bodyPr vert="horz" lIns="92117" tIns="46058" rIns="92117" bIns="46058" rtlCol="0" anchor="b"/>
          <a:lstStyle>
            <a:lvl1pPr algn="l">
              <a:defRPr sz="1200"/>
            </a:lvl1pPr>
          </a:lstStyle>
          <a:p>
            <a:r>
              <a:rPr lang="en-US" sz="800"/>
              <a:t>UTC Students’ Scientific Research Presentation</a:t>
            </a:r>
            <a:endParaRPr lang="en-US" sz="800" baseline="30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2"/>
            <a:ext cx="2455188" cy="388831"/>
          </a:xfrm>
          <a:prstGeom prst="rect">
            <a:avLst/>
          </a:prstGeom>
        </p:spPr>
        <p:txBody>
          <a:bodyPr vert="horz" lIns="92117" tIns="46058" rIns="92117" bIns="46058" rtlCol="0" anchor="b"/>
          <a:lstStyle>
            <a:lvl1pPr algn="r">
              <a:defRPr sz="1200"/>
            </a:lvl1pPr>
          </a:lstStyle>
          <a:p>
            <a:fld id="{FF298A8D-1A9E-4D7F-9B4D-C2DD0B5E80CC}" type="slidenum">
              <a:rPr lang="en-US" sz="800" smtClean="0"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881324872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60" cy="496412"/>
          </a:xfrm>
          <a:prstGeom prst="rect">
            <a:avLst/>
          </a:prstGeom>
        </p:spPr>
        <p:txBody>
          <a:bodyPr vert="horz" lIns="92117" tIns="46058" rIns="92117" bIns="4605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2" y="0"/>
            <a:ext cx="2945660" cy="496412"/>
          </a:xfrm>
          <a:prstGeom prst="rect">
            <a:avLst/>
          </a:prstGeom>
        </p:spPr>
        <p:txBody>
          <a:bodyPr vert="horz" lIns="92117" tIns="46058" rIns="92117" bIns="4605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D884B9E-D7A9-41C8-8110-9A26BB79FE67}" type="datetime2">
              <a:rPr lang="en-US" smtClean="0"/>
              <a:t>Tuesday, May 5, 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17" tIns="46058" rIns="92117" bIns="46058" rtlCol="0" anchor="ctr"/>
          <a:lstStyle/>
          <a:p>
            <a:pPr lvl="0"/>
            <a:endParaRPr lang="en-MY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2117" tIns="46058" rIns="92117" bIns="46058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MY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0"/>
            <a:ext cx="2945660" cy="496412"/>
          </a:xfrm>
          <a:prstGeom prst="rect">
            <a:avLst/>
          </a:prstGeom>
        </p:spPr>
        <p:txBody>
          <a:bodyPr vert="horz" lIns="92117" tIns="46058" rIns="92117" bIns="4605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2" y="9430090"/>
            <a:ext cx="2945660" cy="496412"/>
          </a:xfrm>
          <a:prstGeom prst="rect">
            <a:avLst/>
          </a:prstGeom>
        </p:spPr>
        <p:txBody>
          <a:bodyPr vert="horz" lIns="92117" tIns="46058" rIns="92117" bIns="46058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9F3C4E8-3E9E-4B64-96E1-F10754AF8711}" type="slidenum">
              <a:rPr lang="en-MY"/>
              <a:pPr>
                <a:defRPr/>
              </a:pPr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28990832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5988" y="744538"/>
            <a:ext cx="4965700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fld id="{98E28D8C-B07E-428B-8787-BB61D8C1BAF1}" type="slidenum">
              <a:rPr lang="en-GB" smtClean="0"/>
              <a:t>1</a:t>
            </a:fld>
            <a:fld id="{5138228C-BCB2-4BCE-A183-78FB74CA6AA1}" type="slidenum">
              <a:rPr lang="en-GB" smtClean="0"/>
              <a:t>1</a:t>
            </a:fld>
            <a:fld id="{AC83568A-1D62-4B78-B152-835DD60CFEE1}" type="slidenum">
              <a:rPr lang="en-GB" smtClean="0"/>
              <a:t>1</a:t>
            </a:fld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585BBCD5-C98E-402D-8814-2827AB36F331}" type="datetime2">
              <a:rPr lang="en-US" smtClean="0"/>
              <a:t>Tuesday, May 5, 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F3C4E8-3E9E-4B64-96E1-F10754AF8711}" type="slidenum">
              <a:rPr lang="en-MY" smtClean="0"/>
              <a:pPr>
                <a:defRPr/>
              </a:pPr>
              <a:t>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321272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5988" y="744538"/>
            <a:ext cx="4965700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1F4AAE7-FB4C-446D-A472-7EDD1A05BA0E}" type="datetime2">
              <a:rPr lang="en-US" smtClean="0"/>
              <a:t>Tuesday, May 5, 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F3C4E8-3E9E-4B64-96E1-F10754AF8711}" type="slidenum">
              <a:rPr lang="en-MY" smtClean="0"/>
              <a:pPr>
                <a:defRPr/>
              </a:pPr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72625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5988" y="744538"/>
            <a:ext cx="4965700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1F4AAE7-FB4C-446D-A472-7EDD1A05BA0E}" type="datetime2">
              <a:rPr lang="en-US" smtClean="0"/>
              <a:t>Tuesday, May 5, 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F3C4E8-3E9E-4B64-96E1-F10754AF8711}" type="slidenum">
              <a:rPr lang="en-MY" smtClean="0"/>
              <a:pPr>
                <a:defRPr/>
              </a:pPr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29212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9E55B-7924-CFB0-DA56-BFD8B7201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EB901-3D8E-B1A3-1DB3-7B0F36DDF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15988" y="744538"/>
            <a:ext cx="4965700" cy="37242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70D74-B621-BF79-BF40-6A0B03AB0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BFDB17F-9157-F2A9-B1D7-DA8CDA8AE6C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25EC1-6EF0-A2B1-3102-F36FA31A1EF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41F4AAE7-FB4C-446D-A472-7EDD1A05BA0E}" type="datetime2">
              <a:rPr lang="en-US" smtClean="0"/>
              <a:t>Tuesday, May 5, 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94284-FB79-0E38-5489-099A46546E5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E18B9-CF68-6482-4FE7-D89D68665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9F3C4E8-3E9E-4B64-96E1-F10754AF8711}" type="slidenum">
              <a:rPr lang="en-MY" smtClean="0"/>
              <a:pPr>
                <a:defRPr/>
              </a:pPr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2265588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2" y="2515961"/>
            <a:ext cx="8242176" cy="1362075"/>
          </a:xfrm>
        </p:spPr>
        <p:txBody>
          <a:bodyPr anchor="b"/>
          <a:lstStyle>
            <a:lvl1pPr algn="l">
              <a:defRPr sz="32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2" y="3933060"/>
            <a:ext cx="8242176" cy="562869"/>
          </a:xfrm>
        </p:spPr>
        <p:txBody>
          <a:bodyPr anchor="ctr"/>
          <a:lstStyle>
            <a:lvl1pPr marL="0" indent="0">
              <a:buNone/>
              <a:defRPr sz="2800" b="1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1"/>
            </a:lvl1pPr>
          </a:lstStyle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84" y="844596"/>
            <a:ext cx="8963916" cy="565949"/>
          </a:xfrm>
        </p:spPr>
        <p:txBody>
          <a:bodyPr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3" y="1454150"/>
            <a:ext cx="8964497" cy="5403850"/>
          </a:xfrm>
        </p:spPr>
        <p:txBody>
          <a:bodyPr/>
          <a:lstStyle>
            <a:lvl1pPr>
              <a:lnSpc>
                <a:spcPct val="90000"/>
              </a:lnSpc>
              <a:spcBef>
                <a:spcPts val="1600"/>
              </a:spcBef>
              <a:defRPr b="0"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084" y="844594"/>
            <a:ext cx="8963916" cy="64019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401" y="1484784"/>
            <a:ext cx="4291609" cy="53530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1"/>
          </p:nvPr>
        </p:nvSpPr>
        <p:spPr>
          <a:xfrm>
            <a:off x="4644010" y="1484784"/>
            <a:ext cx="4291609" cy="53530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836712"/>
            <a:ext cx="8964488" cy="74516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9513" y="1614664"/>
            <a:ext cx="4464496" cy="75929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9513" y="2406752"/>
            <a:ext cx="4464496" cy="44786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2"/>
          <p:cNvSpPr>
            <a:spLocks noGrp="1"/>
          </p:cNvSpPr>
          <p:nvPr>
            <p:ph type="body" idx="11"/>
          </p:nvPr>
        </p:nvSpPr>
        <p:spPr>
          <a:xfrm>
            <a:off x="4644008" y="1614664"/>
            <a:ext cx="4320480" cy="75929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2"/>
          </p:nvPr>
        </p:nvSpPr>
        <p:spPr>
          <a:xfrm>
            <a:off x="4644008" y="2406752"/>
            <a:ext cx="4320480" cy="44786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3" y="836712"/>
            <a:ext cx="8920520" cy="595536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91990-94F9-4C6F-B569-CE8F0CA1D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48F2E1-1D29-4185-A598-EF73E08C9A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754924"/>
      </p:ext>
    </p:extLst>
  </p:cSld>
  <p:clrMapOvr>
    <a:masterClrMapping/>
  </p:clrMapOvr>
  <p:transition advClick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Relationship Id="rId10" Type="http://schemas.openxmlformats.org/officeDocument/2006/relationships/image" Target="../media/image2.jpeg"/><Relationship Id="rId11" Type="http://schemas.openxmlformats.org/officeDocument/2006/relationships/image" Target="../media/image3.jpeg"/><Relationship Id="rId1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53532"/>
            <a:ext cx="9144000" cy="1304468"/>
          </a:xfrm>
          <a:prstGeom prst="rect">
            <a:avLst/>
          </a:prstGeom>
        </p:spPr>
      </p:pic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0084" y="844596"/>
            <a:ext cx="8831182" cy="565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513" y="1454150"/>
            <a:ext cx="8831754" cy="4927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>
          <a:xfrm>
            <a:off x="-13655" y="6381328"/>
            <a:ext cx="589563" cy="26064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BE093"/>
                </a:solidFill>
              </a:defRPr>
            </a:lvl1pPr>
          </a:lstStyle>
          <a:p>
            <a:fld id="{0FA7EB8A-7A66-4018-AF12-10DAF94DACA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 rot="5400000">
            <a:off x="7597454" y="-48233"/>
            <a:ext cx="1080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 rot="5400000">
            <a:off x="8003854" y="-48233"/>
            <a:ext cx="1080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5" y="53367"/>
            <a:ext cx="751012" cy="75101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417" y="53367"/>
            <a:ext cx="755576" cy="751012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1977"/>
            <a:ext cx="9144000" cy="826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1" r:id="rId2"/>
    <p:sldLayoutId id="2147483703" r:id="rId3"/>
    <p:sldLayoutId id="2147483704" r:id="rId4"/>
    <p:sldLayoutId id="2147483705" r:id="rId5"/>
    <p:sldLayoutId id="2147483706" r:id="rId6"/>
    <p:sldLayoutId id="2147483708" r:id="rId7"/>
  </p:sldLayoutIdLst>
  <p:transition advClick="0"/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 baseline="0">
          <a:solidFill>
            <a:srgbClr val="00206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erdana" pitchFamily="34" charset="0"/>
          <a:ea typeface="MS PGothic"/>
          <a:cs typeface="MS PGothic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ts val="2000"/>
        </a:spcBef>
        <a:spcAft>
          <a:spcPct val="0"/>
        </a:spcAft>
        <a:buChar char="•"/>
        <a:defRPr sz="2800">
          <a:solidFill>
            <a:srgbClr val="00206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90000"/>
        </a:lnSpc>
        <a:spcBef>
          <a:spcPts val="600"/>
        </a:spcBef>
        <a:spcAft>
          <a:spcPct val="0"/>
        </a:spcAft>
        <a:buClr>
          <a:schemeClr val="accent1"/>
        </a:buClr>
        <a:buChar char="–"/>
        <a:defRPr sz="2400">
          <a:solidFill>
            <a:srgbClr val="002060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600"/>
        </a:spcBef>
        <a:spcAft>
          <a:spcPct val="0"/>
        </a:spcAft>
        <a:buChar char="•"/>
        <a:defRPr sz="2000">
          <a:solidFill>
            <a:srgbClr val="002060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–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HỆ THỐNG QUẢN LÝ BÃI ĐỖ XE THÔNG MINH</a:t>
            </a:r>
          </a:p>
          <a:p>
            <a:r>
              <a:t>(SMART PARKING)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Bảo vệ Nghiên cứu Khoa học</a:t>
            </a:r>
          </a:p>
          <a:p>
            <a:r>
              <a:t>Sinh viên thực hiện: Hoàng Anh</a:t>
            </a:r>
          </a:p>
          <a:p>
            <a:r>
              <a:t>Giảng viên hướng dẫn: [Điền tên Giảng Viên]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HỆ THỐNG QUẢN LÝ BÃI ĐỖ XE THÔNG MINH</a:t>
            </a:r>
          </a:p>
          <a:p>
            <a:r>
              <a:t>(SMART PARKING)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Bảo vệ Nghiên cứu Khoa học</a:t>
            </a:r>
          </a:p>
          <a:p>
            <a:r>
              <a:t>Sinh viên thực hiện: Hoàng Anh</a:t>
            </a:r>
          </a:p>
          <a:p>
            <a:r>
              <a:t>Giảng viên hướng dẫn: [Điền tên Giảng Viên]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1. Thực trạng bãi đỗ xe truyền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Ùn tắc nghiêm trọng tại cổng ra/vào giờ cao điểm.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Thao tác thủ công (phát thẻ, thu tiền lẻ) tốn rất nhiều thời gian.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Ô nhiễm tiếng ồn và khói bụi do xe phải dừng chờ quá lâu.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Phụ thuộc hoàn toàn vào nhân viên bảo vệ.</a:t>
            </a:r>
          </a:p>
        </p:txBody>
      </p:sp>
      <p:pic>
        <p:nvPicPr>
          <p:cNvPr id="4" name="Picture 3" descr="web_park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55549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1. Thực trạng bãi đỗ xe truyền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Ùn tắc nghiêm trọng tại cổng ra/vào giờ cao điểm.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Thao tác thủ công (phát thẻ, thu tiền lẻ) tốn rất nhiều thời gian.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Ô nhiễm tiếng ồn và khói bụi do xe phải dừng chờ quá lâu.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Phụ thuộc hoàn toàn vào nhân viên bảo vệ.</a:t>
            </a:r>
          </a:p>
        </p:txBody>
      </p:sp>
      <p:pic>
        <p:nvPicPr>
          <p:cNvPr id="4" name="Picture 3" descr="web_park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55549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2. Rủi ro và Bất cập của Vé giấy/Thẻ từ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Rủi ro bảo mật: Vé giấy dễ bị làm giả, thẻ từ dễ bị đánh tráo.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Thất thoát tài chính: Quy trình thu tiền mặt khó kiểm soát minh bạch.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Chi phí vận hành lớn: Phải duy trì đội ngũ bảo vệ túc trực 24/7.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Chi phí vật tư: Thay thế thẻ từ hư hỏng, in ấn vé giấy liên tục.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2. Rủi ro và Bất cập của Vé giấy/Thẻ từ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Rủi ro bảo mật: Vé giấy dễ bị làm giả, thẻ từ dễ bị đánh tráo.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Thất thoát tài chính: Quy trình thu tiền mặt khó kiểm soát minh bạch.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Chi phí vận hành lớn: Phải duy trì đội ngũ bảo vệ túc trực 24/7.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Chi phí vật tư: Thay thế thẻ từ hư hỏng, in ấn vé giấy liên tục.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3. Mục tiêu nghiên cứu của Đề tài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1. Số hóa quy trình: Thay thế hoàn toàn thẻ vật lý bằng công nghệ nhận diện.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2. Tự động hóa thanh toán: Áp dụng Fintech để tạo vòng lặp khép kín.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3. Nâng cao trải nghiệm: Giảm thiểu thời gian chờ đợi của khách hàng.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4. Tối ưu chi phí: Xây dựng hệ thống tự hành, giảm phụ thuộc con người.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3. Mục tiêu nghiên cứu của Đề tài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1. Số hóa quy trình: Thay thế hoàn toàn thẻ vật lý bằng công nghệ nhận diện.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2. Tự động hóa thanh toán: Áp dụng Fintech để tạo vòng lặp khép kín.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3. Nâng cao trải nghiệm: Giảm thiểu thời gian chờ đợi của khách hàng.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4. Tối ưu chi phí: Xây dựng hệ thống tự hành, giảm phụ thuộc con người.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4. Giải pháp công nghệ: Triết lý 3 KHÔNG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✅ KHÔNG CHỜ ĐỢI: Nhận diện biển số tức thời bằng Computer Vision.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✅ KHÔNG CHẠM: Barie tự động nhấc lên khi xe tiến vào.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✅ KHÔNG TIỀN MẶT: Tích hợp ví điện tử trên Mobile App.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=&gt; Biến chiếc điện thoại thông minh thành một tấm vé đa năng.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4. Giải pháp công nghệ: Triết lý 3 KHÔNG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✅ KHÔNG CHỜ ĐỢI: Nhận diện biển số tức thời bằng Computer Vision.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✅ KHÔNG CHẠM: Barie tự động nhấc lên khi xe tiến vào.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✅ KHÔNG TIỀN MẶT: Tích hợp ví điện tử trên Mobile App.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=&gt; Biến chiếc điện thoại thông minh thành một tấm vé đa năng.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5. Tổng quan Kiến trúc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Hệ thống phân tán (Distributed System) gồm 3 lớp chính: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Lớp Hardware (Local): Cụm Camera IP quét biển số và Barie vật lý.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Lớp Middleware (Backend): Server trung tâm xây dựng bằng Python Flask, quản trị Database MySQL.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Lớp Client (Mobile App): Ứng dụng Android viết bằng Java, giao tiếp qua Retrofit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5. Tổng quan Kiến trúc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Hệ thống phân tán (Distributed System) gồm 3 lớp chính: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Lớp Hardware (Local): Cụm Camera IP quét biển số và Barie vật lý.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Lớp Middleware (Backend): Server trung tâm xây dựng bằng Python Flask, quản trị Database MySQL.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Lớp Client (Mobile App): Ứng dụng Android viết bằng Java, giao tiếp qua Retrofit API.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6. Cụm nhận diện Camera Local (AI Vision)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Hoạt động 24/7 tại các luồng xe ra vào.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Áp dụng công nghệ Optical Character Recognition (OCR).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Bóc tách, nhận diện và chuẩn hóa ký tự biển số trong vài mili-giây.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Chống nhiễu khi thời tiết xấu hoặc biển số bị mờ.</a:t>
            </a:r>
          </a:p>
        </p:txBody>
      </p:sp>
      <p:pic>
        <p:nvPicPr>
          <p:cNvPr id="4" name="Picture 3" descr="web_park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55549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7. Backend Server - Bộ não của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Phát triển bằng Python Flask: Đảm bảo hiệu năng và dễ mở rộng.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Kiến trúc RESTful API: Phục vụ cả Mobile App và Cụm Camera.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Giao tiếp thời gian thực: Đồng bộ trạng thái Barie với App Mobile.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Bảo mật: Lưu trữ mật khẩu và lịch sử giao dịch an toàn trên MySQL.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8. Trải nghiệm Mobile App (Client)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Giao diện thiết kế theo phong cách tối giản (Minimalist), tông màu hiện đại.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Tính năng lõi: Quản lý phương tiện cá nhân, Nạp tiền, Lịch sử ra vào.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Tính năng dự phòng sự cố: Cho phép người dùng tự quét mã QR tại trạm để mở cổng nếu Camera bị lỗi nhận diện.</a:t>
            </a:r>
          </a:p>
        </p:txBody>
      </p:sp>
      <p:pic>
        <p:nvPicPr>
          <p:cNvPr id="4" name="Picture 3" descr="web_ap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61760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9. Thách thức lớn nhất: Thanh toán Tự động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Thực tế: Các bãi xe muốn tích hợp thanh toán ngân hàng thường phải trả phí rất đắt cho cổng VNPAY, MoMo.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Nếu dùng chuyển khoản thường: Admin phải ngồi kiểm tra App ngân hàng rồi cộng tiền tay, rất bất tiện.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=&gt; Câu hỏi: Làm sao để đối soát tiền vào tài khoản ngân hàng HOÀN TOÀN TỰ ĐỘNG và MIỄN PHÍ?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10. Giải pháp Thanh toán: Công nghệ RPA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RPA (Robotic Process Automation) - Tự động hóa bằng Robot.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Xây dựng một Script NodeJS sử dụng Puppeteer chạy nền trên Server.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Robot này sẽ đóng vai một 'kế toán viên', tự động đăng nhập vào trang web Internet Banking của MB Bank.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Truy xuất lịch sử giao dịch liên tục mỗi 5 giây.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11. Rào cản kỹ thuật: Tường lửa Ngân hàng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Để chống lại Robot, ngân hàng MB Bank yêu cầu nhập mã CAPTCHA hình ảnh mỗi khi đăng nhập.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Các công cụ RPA thông thường sẽ bị vô hiệu hóa hoàn toàn tại bước này.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Vấn đề này đòi hỏi phải có Trí tuệ nhân tạo (AI) can thiệp để xử lý.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12. Đột phá Công nghệ: Mạng Nơ-ron (CNN)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Tự tay thiết kế và huấn luyện mô hình Mạng Nơ-ron Tích chập (CNN).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Framework: TensorFlow (Google).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Dữ liệu: Hàng nghìn mẫu CAPTCHA thực tế được gán nhãn.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Khả năng: Khử nhiễu nền ảnh, cắt tách từng ký tự và dự đoán chính xác nội dung.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Giúp Robot vượt rào bảo mật ngân hàng một cách dễ dàng.</a:t>
            </a:r>
          </a:p>
        </p:txBody>
      </p:sp>
      <p:pic>
        <p:nvPicPr>
          <p:cNvPr id="4" name="Picture 3" descr="web_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2918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13. Quy trình Thanh toán Khép kín (End-to-End)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Bước 1: App tạo mã VietQR theo định dạng chuẩn.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Bước 2: Khách hàng quét mã chuyển khoản.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Bước 3: Robot (RPA + AI) nhận diện tiền về tài khoản ngân hàng chủ bãi.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Bước 4: Robot gửi HTTP Request lên Backend Server.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Bước 5: Server cập nhật số dư ví trong vòng 3 giây. Hệ thống hoàn toàn tự vận hành.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14. Đánh giá Kết quả Thực nghiệm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Hoàn thiện toàn bộ hệ sinh thái phần mềm: Hardware - Backend - Mobile.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Tốc độ xử lý ưu việt: Thời gian trung bình một xe qua cổng giảm từ 15s xuống còn dưới 3s.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Tính ổn định: Backend xử lý mượt mà, không gặp hiện tượng thắt cổ chai dữ liệu.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Ứng dụng thành công AI vào bài toán thực tiễn phức tạp (Thanh toán ngân hàng).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15. Định hướng Mở rộng trong tương lai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- Indoor Navigation: Tích hợp cảm biến siêu âm kết hợp bản đồ 2D trên App để dẫn đường đỗ xe.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Nền tảng iOS: Xây dựng ứng dụng phiên bản Swift/Flutter để hỗ trợ người dùng iPhone.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- Đa dạng Ngân hàng: Cập nhật mô hình AI để đối soát tự động với các ngân hàng lớn khác.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99"/>
                </a:solidFill>
              </a:defRPr>
            </a:pPr>
            <a:r>
              <a:t>XIN CHÂN THÀNH CẢM ƠN HỘI ĐỒNG!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404040"/>
                </a:solidFill>
              </a:defRPr>
            </a:pPr>
            <a:r>
              <a:t>Bài thuyết trình đến đây là kết thúc.</a:t>
            </a:r>
          </a:p>
          <a:p>
            <a:pPr>
              <a:defRPr sz="2200">
                <a:solidFill>
                  <a:srgbClr val="404040"/>
                </a:solidFill>
              </a:defRPr>
            </a:pPr>
            <a:r>
              <a:t>Em rất mong nhận được những câu hỏi, phản biện và đóng góp ý kiến từ quý Thầy Cô để đề tài NCKH được hoàn thiện hơn.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ntley1">
  <a:themeElements>
    <a:clrScheme name="Bentley Color Palette">
      <a:dk1>
        <a:srgbClr val="002A44"/>
      </a:dk1>
      <a:lt1>
        <a:srgbClr val="FFFFFF"/>
      </a:lt1>
      <a:dk2>
        <a:srgbClr val="000000"/>
      </a:dk2>
      <a:lt2>
        <a:srgbClr val="A6AFB7"/>
      </a:lt2>
      <a:accent1>
        <a:srgbClr val="55A51C"/>
      </a:accent1>
      <a:accent2>
        <a:srgbClr val="002A44"/>
      </a:accent2>
      <a:accent3>
        <a:srgbClr val="B2D1AE"/>
      </a:accent3>
      <a:accent4>
        <a:srgbClr val="A6AFB7"/>
      </a:accent4>
      <a:accent5>
        <a:srgbClr val="61BC47"/>
      </a:accent5>
      <a:accent6>
        <a:srgbClr val="005386"/>
      </a:accent6>
      <a:hlink>
        <a:srgbClr val="55A51C"/>
      </a:hlink>
      <a:folHlink>
        <a:srgbClr val="B2D1AE"/>
      </a:folHlink>
    </a:clrScheme>
    <a:fontScheme name="GTCC">
      <a:majorFont>
        <a:latin typeface="Arial Unicode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dirty="0" err="1" smtClean="0">
            <a:ln>
              <a:noFill/>
            </a:ln>
            <a:solidFill>
              <a:schemeClr val="bg1"/>
            </a:solidFill>
            <a:effectLst/>
            <a:latin typeface="+mn-lt"/>
            <a:ea typeface="MS PGothic"/>
            <a:cs typeface="MS PGothic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MS PGothic"/>
            <a:cs typeface="MS PGothic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800" dirty="0" err="1" smtClean="0">
            <a:latin typeface="+mn-lt"/>
          </a:defRPr>
        </a:defPPr>
      </a:lstStyle>
    </a:tx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Bentley1</Template>
  <Application>Microsoft Office PowerPoint</Application>
  <PresentationFormat>On-screen Show (4:3)</PresentationFormat>
  <Slides>6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Bentley1</vt:lpstr>
      <vt:lpstr>ỨNG DỤNG TRÍ TUỆ NHÂN TẠO TRONG NHẬN DIỆN BIỂN SỐ XE VÀ XÂY DỰNG HỆ THỐNG QUẢN LÝ BÃI ĐỖ XE THÔNG MINH </vt:lpstr>
      <vt:lpstr>Nội Dung Trình Bày</vt:lpstr>
      <vt:lpstr>Tổng quan bài toán &amp; mục tiêu nghiên cứu </vt:lpstr>
      <vt:lpstr>PowerPoint Presentation</vt:lpstr>
      <vt:lpstr>PowerPoint Presentation</vt:lpstr>
      <vt:lpstr>PowerPoint Presentation</vt:lpstr>
    </vt:vector>
  </TitlesOfParts>
  <Company>Bentley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BalvitJohl</dc:creator>
  <cp:revision>4</cp:revision>
  <cp:lastPrinted>2018-02-27T08:02:09Z</cp:lastPrinted>
  <dcterms:created xsi:type="dcterms:W3CDTF">2010-05-31T01:00:33Z</dcterms:created>
  <dcterms:modified xsi:type="dcterms:W3CDTF">2026-05-05T14:57:19Z</dcterms:modified>
</cp:coreProperties>
</file>