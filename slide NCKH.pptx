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318" r:id="rId3"/>
    <p:sldId id="281" r:id="rId4"/>
    <p:sldId id="298" r:id="rId5"/>
    <p:sldId id="320" r:id="rId6"/>
    <p:sldId id="319" r:id="rId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BE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40A0B-D44F-B641-AB97-0C347E410FB1}" v="2" dt="2026-05-05T10:27:06.106"/>
    <p1510:client id="{3FAED6F1-4A1E-31D9-EAD7-1AFFB596B697}" v="73" dt="2026-05-05T14:52:38.350"/>
    <p1510:client id="{818A2B3F-20BC-B5A2-A1AC-7FDB2B1EB13C}" v="9" dt="2026-05-05T14:53:34.718"/>
    <p1510:client id="{9EE3C168-585A-48D4-0458-E279CA114C27}" v="2" dt="2026-05-05T14:56:45.996"/>
    <p1510:client id="{BC12390F-41EC-A344-88F4-6380B64DB962}" v="446" dt="2026-05-05T10:09:36.659"/>
    <p1510:client id="{C042D782-4301-432E-873F-6A5850D3816D}" v="10" dt="2026-05-05T14:28:11.001"/>
    <p1510:client id="{DFB15B5E-E52F-02DC-CE91-1DF78375EE7B}" v="115" dt="2026-05-05T14:38:10.678"/>
    <p1510:client id="{E44AB976-9C72-C85B-0020-2C815D182FF1}" v="170" dt="2026-05-05T10:39:52.159"/>
    <p1510:client id="{E79EBD29-95BF-8496-21E6-98C736831DBE}" v="26" dt="2026-05-05T14:53:13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74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9372" y="109301"/>
            <a:ext cx="5886259" cy="39834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>
              <a:defRPr sz="1200"/>
            </a:lvl1pPr>
          </a:lstStyle>
          <a:p>
            <a:pPr algn="ctr"/>
            <a:r>
              <a:rPr lang="en-US" sz="800"/>
              <a:t>University of Transport and Communications</a:t>
            </a:r>
          </a:p>
          <a:p>
            <a:pPr algn="ctr"/>
            <a:r>
              <a:rPr lang="en-US" sz="800" b="1"/>
              <a:t>Faculty of International Education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2042" y="9430092"/>
            <a:ext cx="2834125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>
              <a:defRPr sz="1200"/>
            </a:lvl1pPr>
          </a:lstStyle>
          <a:p>
            <a:r>
              <a:rPr lang="en-US" sz="800"/>
              <a:t>UTC Students’ Scientific Research Presentation</a:t>
            </a:r>
            <a:endParaRPr lang="en-US" sz="800" baseline="30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455188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>
              <a:defRPr sz="1200"/>
            </a:lvl1pPr>
          </a:lstStyle>
          <a:p>
            <a:fld id="{FF298A8D-1A9E-4D7F-9B4D-C2DD0B5E80CC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8132487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D884B9E-D7A9-41C8-8110-9A26BB79FE67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117" tIns="46058" rIns="92117" bIns="4605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2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9F3C4E8-3E9E-4B64-96E1-F10754AF871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99083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98E28D8C-B07E-428B-8787-BB61D8C1BAF1}" type="slidenum">
              <a:rPr lang="en-GB" smtClean="0"/>
              <a:t>1</a:t>
            </a:fld>
            <a:fld id="{5138228C-BCB2-4BCE-A183-78FB74CA6AA1}" type="slidenum">
              <a:rPr lang="en-GB" smtClean="0"/>
              <a:t>1</a:t>
            </a:fld>
            <a:fld id="{AC83568A-1D62-4B78-B152-835DD60CFEE1}" type="slidenum">
              <a:rPr lang="en-GB" smtClean="0"/>
              <a:t>1</a:t>
            </a:fld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85BBCD5-C98E-402D-8814-2827AB36F331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212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262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212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E55B-7924-CFB0-DA56-BFD8B720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EB901-3D8E-B1A3-1DB3-7B0F36DD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70D74-B621-BF79-BF40-6A0B03AB0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FDB17F-9157-F2A9-B1D7-DA8CDA8AE6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5EC1-6EF0-A2B1-3102-F36FA31A1EF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94284-FB79-0E38-5489-099A46546E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E18B9-CF68-6482-4FE7-D89D6866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2655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2515961"/>
            <a:ext cx="8242176" cy="1362075"/>
          </a:xfrm>
        </p:spPr>
        <p:txBody>
          <a:bodyPr anchor="b"/>
          <a:lstStyle>
            <a:lvl1pPr algn="l">
              <a:defRPr sz="3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3933060"/>
            <a:ext cx="8242176" cy="562869"/>
          </a:xfrm>
        </p:spPr>
        <p:txBody>
          <a:bodyPr anchor="ctr"/>
          <a:lstStyle>
            <a:lvl1pPr marL="0" indent="0">
              <a:buNone/>
              <a:defRPr sz="2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6"/>
            <a:ext cx="8963916" cy="565949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3" y="1454150"/>
            <a:ext cx="8964497" cy="5403850"/>
          </a:xfrm>
        </p:spPr>
        <p:txBody>
          <a:bodyPr/>
          <a:lstStyle>
            <a:lvl1pPr>
              <a:lnSpc>
                <a:spcPct val="90000"/>
              </a:lnSpc>
              <a:spcBef>
                <a:spcPts val="1600"/>
              </a:spcBef>
              <a:defRPr b="0"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4"/>
            <a:ext cx="8963916" cy="6401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01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4644010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8964488" cy="7451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513" y="1614664"/>
            <a:ext cx="4464496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513" y="2406752"/>
            <a:ext cx="4464496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644008" y="1614664"/>
            <a:ext cx="4320480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2"/>
          </p:nvPr>
        </p:nvSpPr>
        <p:spPr>
          <a:xfrm>
            <a:off x="4644008" y="2406752"/>
            <a:ext cx="4320480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836712"/>
            <a:ext cx="8920520" cy="595536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990-94F9-4C6F-B569-CE8F0CA1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8F2E1-1D29-4185-A598-EF73E08C9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4924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3532"/>
            <a:ext cx="9144000" cy="1304468"/>
          </a:xfrm>
          <a:prstGeom prst="rect">
            <a:avLst/>
          </a:prstGeom>
        </p:spPr>
      </p:pic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084" y="844596"/>
            <a:ext cx="8831182" cy="56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513" y="1454150"/>
            <a:ext cx="8831754" cy="4927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-13655" y="6381328"/>
            <a:ext cx="589563" cy="2606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BE093"/>
                </a:solidFill>
              </a:defRPr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 rot="5400000">
            <a:off x="75974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 rot="5400000">
            <a:off x="80038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53367"/>
            <a:ext cx="751012" cy="7510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7" y="53367"/>
            <a:ext cx="755576" cy="751012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977"/>
            <a:ext cx="9144000" cy="82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1" r:id="rId2"/>
    <p:sldLayoutId id="2147483703" r:id="rId3"/>
    <p:sldLayoutId id="2147483704" r:id="rId4"/>
    <p:sldLayoutId id="2147483705" r:id="rId5"/>
    <p:sldLayoutId id="2147483706" r:id="rId6"/>
    <p:sldLayoutId id="2147483708" r:id="rId7"/>
  </p:sldLayoutIdLst>
  <p:transition advClick="0"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baseline="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har char="•"/>
        <a:defRPr sz="28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chemeClr val="accent1"/>
        </a:buClr>
        <a:buChar char="–"/>
        <a:defRPr sz="24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har char="•"/>
        <a:defRPr sz="20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2BEE-EEAA-451E-8A9C-DEF62393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39" y="2064801"/>
            <a:ext cx="8242176" cy="1362075"/>
          </a:xfrm>
        </p:spPr>
        <p:txBody>
          <a:bodyPr/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2400">
                <a:solidFill>
                  <a:srgbClr val="C00000"/>
                </a:solidFill>
                <a:latin typeface="Times New Roman"/>
                <a:cs typeface="Times New Roman"/>
              </a:rPr>
              <a:t>ỨNG DỤNG TRÍ TUỆ NHÂN TẠO TRONG NHẬN DIỆN BIỂN SỐ XE VÀ XÂY DỰNG HỆ THỐNG QUẢN LÝ</a:t>
            </a:r>
            <a:br>
              <a:rPr lang="en-US" sz="2400">
                <a:solidFill>
                  <a:srgbClr val="C00000"/>
                </a:solidFill>
                <a:latin typeface="Times New Roman"/>
                <a:cs typeface="Times New Roman"/>
              </a:rPr>
            </a:br>
            <a:r>
              <a:rPr lang="en-US" sz="2400">
                <a:solidFill>
                  <a:srgbClr val="C00000"/>
                </a:solidFill>
                <a:latin typeface="Times New Roman"/>
                <a:cs typeface="Times New Roman"/>
              </a:rPr>
              <a:t>BÃI ĐỖ XE THÔNG MINH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060CC-E784-4E16-B830-2889F6A20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9BC1C-68B7-47C6-957D-32F73BF93A6D}"/>
              </a:ext>
            </a:extLst>
          </p:cNvPr>
          <p:cNvSpPr txBox="1"/>
          <p:nvPr/>
        </p:nvSpPr>
        <p:spPr>
          <a:xfrm>
            <a:off x="28589" y="1157329"/>
            <a:ext cx="911541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1">
                <a:latin typeface="Arial"/>
                <a:ea typeface="MS PGothic"/>
                <a:cs typeface="Arial"/>
              </a:rPr>
              <a:t>NGHIÊN CỨU KHOA HỌC SINH VIÊN</a:t>
            </a:r>
            <a:endParaRPr lang="en-US" sz="2800" b="1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9667BF6-AAA2-4C69-BACA-A3E3088BB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317" y="3657289"/>
            <a:ext cx="684645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Nhóm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thuyết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trình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: </a:t>
            </a:r>
            <a:endParaRPr lang="vi-VN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Trần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Quang Huy            –	 Công </a:t>
            </a: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Nghệ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Thông Tin Việt Anh 1 K65</a:t>
            </a:r>
          </a:p>
          <a:p>
            <a:pPr algn="just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Nguyễn Hoàng Anh    – 	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Công </a:t>
            </a:r>
            <a:r>
              <a:rPr 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Nghệ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 Thông Tin Việt Anh 1 K65</a:t>
            </a:r>
            <a:endParaRPr lang="en-US" sz="1800" b="0">
              <a:solidFill>
                <a:schemeClr val="tx1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Lê Minh Đức     –	 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Công </a:t>
            </a:r>
            <a:r>
              <a:rPr 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Nghệ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 Thông Tin Việt Anh 1 K65</a:t>
            </a:r>
            <a:endParaRPr lang="en-US" sz="1800" b="0">
              <a:solidFill>
                <a:schemeClr val="tx1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Đỗ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Văn Đạt        –	 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Công </a:t>
            </a:r>
            <a:r>
              <a:rPr 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Nghệ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 Thông Tin Việt Anh 1 K65</a:t>
            </a:r>
            <a:endParaRPr lang="en-US" sz="1800" b="0">
              <a:solidFill>
                <a:schemeClr val="tx1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Nguyễn Văn Hùng         – 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Công </a:t>
            </a:r>
            <a:r>
              <a:rPr 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Nghệ</a:t>
            </a:r>
            <a:r>
              <a:rPr 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 Thông Tin Việt Anh 1 K65</a:t>
            </a:r>
            <a:endParaRPr lang="en-US" sz="1800" b="0">
              <a:solidFill>
                <a:schemeClr val="tx1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2470312-4EE4-4272-BAF8-D360B3E9C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116" y="5688144"/>
            <a:ext cx="45929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Giảng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viên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hướng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altLang="en-US" sz="18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dẫn</a:t>
            </a:r>
            <a:r>
              <a:rPr lang="en-US" altLang="en-US" sz="18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 </a:t>
            </a:r>
            <a:r>
              <a:rPr lang="en-US" sz="1800" b="0">
                <a:solidFill>
                  <a:schemeClr val="accent6">
                    <a:lumMod val="50000"/>
                  </a:schemeClr>
                </a:solidFill>
                <a:latin typeface="Times New Roman"/>
                <a:ea typeface="Calibri"/>
                <a:cs typeface="Times New Roman"/>
              </a:rPr>
              <a:t>T.S Phạm </a:t>
            </a:r>
            <a:r>
              <a:rPr lang="en-US" sz="1800" b="0" err="1">
                <a:solidFill>
                  <a:schemeClr val="accent6">
                    <a:lumMod val="50000"/>
                  </a:schemeClr>
                </a:solidFill>
                <a:latin typeface="Times New Roman"/>
                <a:ea typeface="Calibri"/>
                <a:cs typeface="Times New Roman"/>
              </a:rPr>
              <a:t>Đình</a:t>
            </a:r>
            <a:r>
              <a:rPr lang="en-US" sz="1800" b="0">
                <a:solidFill>
                  <a:schemeClr val="accent6">
                    <a:lumMod val="50000"/>
                  </a:schemeClr>
                </a:solidFill>
                <a:latin typeface="Times New Roman"/>
                <a:ea typeface="Calibri"/>
                <a:cs typeface="Times New Roman"/>
              </a:rPr>
              <a:t> Phong</a:t>
            </a:r>
            <a:endParaRPr lang="en-US" sz="1800" b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70527CB-E782-4563-A958-983F71C1B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513" y="6013619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Hà </a:t>
            </a: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Nội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, </a:t>
            </a: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ngày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7 </a:t>
            </a: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tháng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5 </a:t>
            </a:r>
            <a:r>
              <a:rPr lang="en-US" altLang="en-US" sz="1800" b="0" err="1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năm</a:t>
            </a:r>
            <a:r>
              <a:rPr lang="en-US" altLang="en-US" sz="1800" b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 2026</a:t>
            </a:r>
            <a:endParaRPr lang="vi-VN" altLang="en-US" sz="18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224FBA-E35F-3227-0E7A-031C4E67D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" y="1"/>
            <a:ext cx="1046140" cy="980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0741C-D568-B157-C542-9CC1634252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1225"/>
            <a:ext cx="864096" cy="8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6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60594-BD05-DD37-B9CF-739FAC86F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11871789-D2A4-EEFB-4A1E-E9D841106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5691" y="983746"/>
            <a:ext cx="3958074" cy="592744"/>
          </a:xfrm>
        </p:spPr>
        <p:txBody>
          <a:bodyPr/>
          <a:lstStyle/>
          <a:p>
            <a:pPr eaLnBrk="1" hangingPunct="1"/>
            <a:r>
              <a:rPr lang="en-US" u="sng" err="1">
                <a:solidFill>
                  <a:schemeClr val="accent6">
                    <a:lumMod val="50000"/>
                  </a:schemeClr>
                </a:solidFill>
              </a:rPr>
              <a:t>Nội</a:t>
            </a:r>
            <a:r>
              <a:rPr lang="en-US" u="sng">
                <a:solidFill>
                  <a:schemeClr val="accent6">
                    <a:lumMod val="50000"/>
                  </a:schemeClr>
                </a:solidFill>
              </a:rPr>
              <a:t> Dung </a:t>
            </a:r>
            <a:r>
              <a:rPr lang="en-US" u="sng" err="1">
                <a:solidFill>
                  <a:schemeClr val="accent6">
                    <a:lumMod val="50000"/>
                  </a:schemeClr>
                </a:solidFill>
              </a:rPr>
              <a:t>Trình</a:t>
            </a:r>
            <a:r>
              <a:rPr lang="en-US" u="sng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u="sng" err="1">
                <a:solidFill>
                  <a:schemeClr val="accent6">
                    <a:lumMod val="50000"/>
                  </a:schemeClr>
                </a:solidFill>
              </a:rPr>
              <a:t>Bày</a:t>
            </a:r>
            <a:endParaRPr lang="en-US" sz="1800" u="sng" err="1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C275E069-00BD-6631-1917-E7FDF4E14004}"/>
              </a:ext>
            </a:extLst>
          </p:cNvPr>
          <p:cNvGrpSpPr/>
          <p:nvPr/>
        </p:nvGrpSpPr>
        <p:grpSpPr>
          <a:xfrm>
            <a:off x="179513" y="1772816"/>
            <a:ext cx="8300057" cy="4332506"/>
            <a:chOff x="564331" y="1084638"/>
            <a:chExt cx="8300057" cy="4332506"/>
          </a:xfrm>
        </p:grpSpPr>
        <p:grpSp>
          <p:nvGrpSpPr>
            <p:cNvPr id="48" name="Group 3">
              <a:extLst>
                <a:ext uri="{FF2B5EF4-FFF2-40B4-BE49-F238E27FC236}">
                  <a16:creationId xmlns:a16="http://schemas.microsoft.com/office/drawing/2014/main" id="{3CCD3F39-0E76-0594-2FD8-BCF620AB2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712" y="1084638"/>
              <a:ext cx="774700" cy="690563"/>
              <a:chOff x="1110" y="2656"/>
              <a:chExt cx="1549" cy="1351"/>
            </a:xfrm>
          </p:grpSpPr>
          <p:sp>
            <p:nvSpPr>
              <p:cNvPr id="49" name="AutoShape 4">
                <a:extLst>
                  <a:ext uri="{FF2B5EF4-FFF2-40B4-BE49-F238E27FC236}">
                    <a16:creationId xmlns:a16="http://schemas.microsoft.com/office/drawing/2014/main" id="{7E9C04E3-E912-9CD1-FCA0-B4B8DC5DCE5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50" name="AutoShape 5">
                <a:extLst>
                  <a:ext uri="{FF2B5EF4-FFF2-40B4-BE49-F238E27FC236}">
                    <a16:creationId xmlns:a16="http://schemas.microsoft.com/office/drawing/2014/main" id="{977AEEED-5C68-C15C-6362-2FFFA8DC8F7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51" name="AutoShape 6">
                <a:extLst>
                  <a:ext uri="{FF2B5EF4-FFF2-40B4-BE49-F238E27FC236}">
                    <a16:creationId xmlns:a16="http://schemas.microsoft.com/office/drawing/2014/main" id="{79C1CF3A-7259-7972-C084-B86CAEBB8DB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99" y="2737"/>
                <a:ext cx="1349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52" name="Text Box 13">
              <a:extLst>
                <a:ext uri="{FF2B5EF4-FFF2-40B4-BE49-F238E27FC236}">
                  <a16:creationId xmlns:a16="http://schemas.microsoft.com/office/drawing/2014/main" id="{3EF7032D-B423-C880-6B2C-55A9B729FDB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806823" y="1225395"/>
              <a:ext cx="2682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2400" b="1">
                  <a:solidFill>
                    <a:schemeClr val="bg1"/>
                  </a:solidFill>
                </a:rPr>
                <a:t>I</a:t>
              </a:r>
            </a:p>
          </p:txBody>
        </p:sp>
        <p:sp>
          <p:nvSpPr>
            <p:cNvPr id="53" name="Rectangle 2">
              <a:extLst>
                <a:ext uri="{FF2B5EF4-FFF2-40B4-BE49-F238E27FC236}">
                  <a16:creationId xmlns:a16="http://schemas.microsoft.com/office/drawing/2014/main" id="{3A402E47-BD90-DEBF-AF79-8698A5386543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1428604" y="1174188"/>
              <a:ext cx="6507591" cy="563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sz="27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Tổng quan bài toán &amp; mục tiêu nghiên cứu</a:t>
              </a:r>
              <a:endParaRPr lang="vi-VN" sz="2700">
                <a:solidFill>
                  <a:srgbClr val="FFFFFF"/>
                </a:solidFill>
                <a:ea typeface="Arial Unicode MS"/>
                <a:cs typeface="Arial Unicode MS"/>
              </a:endParaRPr>
            </a:p>
          </p:txBody>
        </p:sp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A8256A86-A942-B6B3-AEEB-7FAA01609A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712" y="1926807"/>
              <a:ext cx="774700" cy="690563"/>
              <a:chOff x="1110" y="2656"/>
              <a:chExt cx="1549" cy="1351"/>
            </a:xfrm>
          </p:grpSpPr>
          <p:sp>
            <p:nvSpPr>
              <p:cNvPr id="55" name="AutoShape 4">
                <a:extLst>
                  <a:ext uri="{FF2B5EF4-FFF2-40B4-BE49-F238E27FC236}">
                    <a16:creationId xmlns:a16="http://schemas.microsoft.com/office/drawing/2014/main" id="{9EB95542-BC10-002B-513F-A806D638769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56" name="AutoShape 5">
                <a:extLst>
                  <a:ext uri="{FF2B5EF4-FFF2-40B4-BE49-F238E27FC236}">
                    <a16:creationId xmlns:a16="http://schemas.microsoft.com/office/drawing/2014/main" id="{3ED4C900-662A-CDB4-F2D5-1CFEE8EEB0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FF0000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57" name="AutoShape 6">
                <a:extLst>
                  <a:ext uri="{FF2B5EF4-FFF2-40B4-BE49-F238E27FC236}">
                    <a16:creationId xmlns:a16="http://schemas.microsoft.com/office/drawing/2014/main" id="{F4EECEB9-10CC-AAF0-9D61-0288C8B7FF6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99" y="2737"/>
                <a:ext cx="1349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FFC000"/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58" name="Text Box 13">
              <a:extLst>
                <a:ext uri="{FF2B5EF4-FFF2-40B4-BE49-F238E27FC236}">
                  <a16:creationId xmlns:a16="http://schemas.microsoft.com/office/drawing/2014/main" id="{E368D6B9-DD17-95F0-9AB8-2F0ED984DB2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63675" y="2012919"/>
              <a:ext cx="3545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2400" b="1">
                  <a:solidFill>
                    <a:schemeClr val="bg1"/>
                  </a:solidFill>
                </a:rPr>
                <a:t>II</a:t>
              </a:r>
            </a:p>
          </p:txBody>
        </p:sp>
        <p:sp>
          <p:nvSpPr>
            <p:cNvPr id="59" name="Rectangle 2">
              <a:extLst>
                <a:ext uri="{FF2B5EF4-FFF2-40B4-BE49-F238E27FC236}">
                  <a16:creationId xmlns:a16="http://schemas.microsoft.com/office/drawing/2014/main" id="{EA3F41E5-07AD-8645-FCF0-9C257CBC3F1C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1150136" y="2105323"/>
              <a:ext cx="6422675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Kiến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trúc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hệ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thống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&amp;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công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nghệ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sử</a:t>
              </a:r>
              <a:r>
                <a:rPr lang="en-US" sz="2600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4472C4"/>
                  </a:solidFill>
                  <a:latin typeface="Arial Unicode MS"/>
                  <a:ea typeface="Arial Unicode MS"/>
                  <a:cs typeface="Arial Unicode MS"/>
                </a:rPr>
                <a:t>dụng</a:t>
              </a:r>
              <a:endParaRPr lang="en-US" sz="2600">
                <a:solidFill>
                  <a:srgbClr val="4472C4"/>
                </a:solidFill>
                <a:latin typeface="Arial Unicode MS"/>
                <a:ea typeface="Arial Unicode MS"/>
                <a:cs typeface="Arial Unicode MS"/>
              </a:endParaRPr>
            </a:p>
          </p:txBody>
        </p:sp>
        <p:sp>
          <p:nvSpPr>
            <p:cNvPr id="60" name="Line 11">
              <a:extLst>
                <a:ext uri="{FF2B5EF4-FFF2-40B4-BE49-F238E27FC236}">
                  <a16:creationId xmlns:a16="http://schemas.microsoft.com/office/drawing/2014/main" id="{D911775B-91A2-AA24-E732-E33A17216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7197" y="1768395"/>
              <a:ext cx="5914494" cy="6403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" name="Group 3">
              <a:extLst>
                <a:ext uri="{FF2B5EF4-FFF2-40B4-BE49-F238E27FC236}">
                  <a16:creationId xmlns:a16="http://schemas.microsoft.com/office/drawing/2014/main" id="{8398D2B9-6AC4-C25B-1C74-ABABAEE79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582" y="2787793"/>
              <a:ext cx="774700" cy="690563"/>
              <a:chOff x="1110" y="2656"/>
              <a:chExt cx="1549" cy="1351"/>
            </a:xfrm>
          </p:grpSpPr>
          <p:sp>
            <p:nvSpPr>
              <p:cNvPr id="62" name="AutoShape 4">
                <a:extLst>
                  <a:ext uri="{FF2B5EF4-FFF2-40B4-BE49-F238E27FC236}">
                    <a16:creationId xmlns:a16="http://schemas.microsoft.com/office/drawing/2014/main" id="{3CBC2205-2737-5E5C-5ADD-850C3BDE31A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63" name="AutoShape 5">
                <a:extLst>
                  <a:ext uri="{FF2B5EF4-FFF2-40B4-BE49-F238E27FC236}">
                    <a16:creationId xmlns:a16="http://schemas.microsoft.com/office/drawing/2014/main" id="{4F8AA673-7604-6C12-0589-3AF2121635A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64" name="AutoShape 6">
                <a:extLst>
                  <a:ext uri="{FF2B5EF4-FFF2-40B4-BE49-F238E27FC236}">
                    <a16:creationId xmlns:a16="http://schemas.microsoft.com/office/drawing/2014/main" id="{BA58D991-8EA0-E769-A2C1-DD65953C515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99" y="2737"/>
                <a:ext cx="1349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00B050"/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65" name="Text Box 13">
              <a:extLst>
                <a:ext uri="{FF2B5EF4-FFF2-40B4-BE49-F238E27FC236}">
                  <a16:creationId xmlns:a16="http://schemas.microsoft.com/office/drawing/2014/main" id="{41E8B49E-35D7-3059-E015-4554B6BB5B4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34174" y="2905430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2400" b="1">
                  <a:solidFill>
                    <a:schemeClr val="bg1"/>
                  </a:solidFill>
                </a:rPr>
                <a:t>III</a:t>
              </a:r>
            </a:p>
          </p:txBody>
        </p:sp>
        <p:sp>
          <p:nvSpPr>
            <p:cNvPr id="66" name="Rectangle 2">
              <a:extLst>
                <a:ext uri="{FF2B5EF4-FFF2-40B4-BE49-F238E27FC236}">
                  <a16:creationId xmlns:a16="http://schemas.microsoft.com/office/drawing/2014/main" id="{B76921CA-8429-CC42-9BBE-3E556753B4A5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1150136" y="2970028"/>
              <a:ext cx="5411511" cy="282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600" err="1">
                  <a:solidFill>
                    <a:srgbClr val="0070C0"/>
                  </a:solidFill>
                  <a:ea typeface="+mj-lt"/>
                  <a:cs typeface="+mj-lt"/>
                </a:rPr>
                <a:t>Mô</a:t>
              </a:r>
              <a:r>
                <a:rPr lang="en-US" sz="2600">
                  <a:solidFill>
                    <a:srgbClr val="0070C0"/>
                  </a:solidFill>
                  <a:ea typeface="+mj-lt"/>
                  <a:cs typeface="+mj-lt"/>
                </a:rPr>
                <a:t> </a:t>
              </a:r>
              <a:r>
                <a:rPr lang="en-US" sz="2600" err="1">
                  <a:solidFill>
                    <a:srgbClr val="0070C0"/>
                  </a:solidFill>
                  <a:ea typeface="+mj-lt"/>
                  <a:cs typeface="+mj-lt"/>
                </a:rPr>
                <a:t>hình</a:t>
              </a:r>
              <a:r>
                <a:rPr lang="en-US" sz="2600">
                  <a:solidFill>
                    <a:srgbClr val="0070C0"/>
                  </a:solidFill>
                  <a:ea typeface="+mj-lt"/>
                  <a:cs typeface="+mj-lt"/>
                </a:rPr>
                <a:t> AI nhận diện </a:t>
              </a:r>
              <a:r>
                <a:rPr lang="en-US" sz="2600" err="1">
                  <a:solidFill>
                    <a:srgbClr val="0070C0"/>
                  </a:solidFill>
                  <a:ea typeface="+mj-lt"/>
                  <a:cs typeface="+mj-lt"/>
                </a:rPr>
                <a:t>biển</a:t>
              </a:r>
              <a:r>
                <a:rPr lang="en-US" sz="2600">
                  <a:solidFill>
                    <a:srgbClr val="0070C0"/>
                  </a:solidFill>
                  <a:ea typeface="+mj-lt"/>
                  <a:cs typeface="+mj-lt"/>
                </a:rPr>
                <a:t> số xe</a:t>
              </a:r>
              <a:endParaRPr lang="vi-VN">
                <a:ea typeface="Arial Unicode MS"/>
                <a:cs typeface="Arial Unicode MS"/>
              </a:endParaRPr>
            </a:p>
          </p:txBody>
        </p:sp>
        <p:grpSp>
          <p:nvGrpSpPr>
            <p:cNvPr id="67" name="Group 3">
              <a:extLst>
                <a:ext uri="{FF2B5EF4-FFF2-40B4-BE49-F238E27FC236}">
                  <a16:creationId xmlns:a16="http://schemas.microsoft.com/office/drawing/2014/main" id="{EF031FCF-4BB3-442D-6683-91BEAC3D2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0600" y="3711631"/>
              <a:ext cx="774700" cy="690563"/>
              <a:chOff x="1110" y="2656"/>
              <a:chExt cx="1549" cy="1351"/>
            </a:xfrm>
          </p:grpSpPr>
          <p:sp>
            <p:nvSpPr>
              <p:cNvPr id="68" name="AutoShape 4">
                <a:extLst>
                  <a:ext uri="{FF2B5EF4-FFF2-40B4-BE49-F238E27FC236}">
                    <a16:creationId xmlns:a16="http://schemas.microsoft.com/office/drawing/2014/main" id="{EA9D6BDB-F048-FE67-4276-A4DB1BB1016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69" name="AutoShape 5">
                <a:extLst>
                  <a:ext uri="{FF2B5EF4-FFF2-40B4-BE49-F238E27FC236}">
                    <a16:creationId xmlns:a16="http://schemas.microsoft.com/office/drawing/2014/main" id="{C61A6529-3592-60F6-1FF7-B635D8F390A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70" name="AutoShape 6">
                <a:extLst>
                  <a:ext uri="{FF2B5EF4-FFF2-40B4-BE49-F238E27FC236}">
                    <a16:creationId xmlns:a16="http://schemas.microsoft.com/office/drawing/2014/main" id="{C793727A-43C0-040F-5B3D-0AAC8EB6392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99" y="2737"/>
                <a:ext cx="1349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00B0F0"/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71" name="Text Box 13">
              <a:extLst>
                <a:ext uri="{FF2B5EF4-FFF2-40B4-BE49-F238E27FC236}">
                  <a16:creationId xmlns:a16="http://schemas.microsoft.com/office/drawing/2014/main" id="{11259158-764B-7568-E8E9-E02570C96D4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21908" y="3844031"/>
              <a:ext cx="4748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2400" b="1">
                  <a:solidFill>
                    <a:schemeClr val="bg1"/>
                  </a:solidFill>
                </a:rPr>
                <a:t>IV</a:t>
              </a:r>
            </a:p>
          </p:txBody>
        </p:sp>
        <p:sp>
          <p:nvSpPr>
            <p:cNvPr id="72" name="Rectangle 2">
              <a:extLst>
                <a:ext uri="{FF2B5EF4-FFF2-40B4-BE49-F238E27FC236}">
                  <a16:creationId xmlns:a16="http://schemas.microsoft.com/office/drawing/2014/main" id="{44DC63A6-B7E2-A3D5-4414-775A2221733E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1215997" y="3920213"/>
              <a:ext cx="6132391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600" err="1">
                  <a:solidFill>
                    <a:srgbClr val="0070C0"/>
                  </a:solidFill>
                </a:rPr>
                <a:t>Ứng</a:t>
              </a:r>
              <a:r>
                <a:rPr lang="en-US" sz="2600">
                  <a:solidFill>
                    <a:srgbClr val="0070C0"/>
                  </a:solidFill>
                </a:rPr>
                <a:t> </a:t>
              </a:r>
              <a:r>
                <a:rPr lang="en-US" sz="2600" err="1">
                  <a:solidFill>
                    <a:srgbClr val="0070C0"/>
                  </a:solidFill>
                </a:rPr>
                <a:t>dụng</a:t>
              </a:r>
              <a:r>
                <a:rPr lang="en-US" sz="2600">
                  <a:solidFill>
                    <a:srgbClr val="0070C0"/>
                  </a:solidFill>
                </a:rPr>
                <a:t> </a:t>
              </a:r>
              <a:r>
                <a:rPr lang="en-US" sz="2600" err="1">
                  <a:solidFill>
                    <a:srgbClr val="0070C0"/>
                  </a:solidFill>
                </a:rPr>
                <a:t>hệ</a:t>
              </a:r>
              <a:r>
                <a:rPr lang="en-US" sz="2600">
                  <a:solidFill>
                    <a:srgbClr val="0070C0"/>
                  </a:solidFill>
                </a:rPr>
                <a:t> </a:t>
              </a:r>
              <a:r>
                <a:rPr lang="en-US" sz="2600" err="1">
                  <a:solidFill>
                    <a:srgbClr val="0070C0"/>
                  </a:solidFill>
                </a:rPr>
                <a:t>thống</a:t>
              </a:r>
              <a:r>
                <a:rPr lang="en-US" sz="2600">
                  <a:solidFill>
                    <a:srgbClr val="0070C0"/>
                  </a:solidFill>
                </a:rPr>
                <a:t> &amp; demo </a:t>
              </a:r>
              <a:r>
                <a:rPr lang="en-US" sz="2600" err="1">
                  <a:solidFill>
                    <a:srgbClr val="0070C0"/>
                  </a:solidFill>
                </a:rPr>
                <a:t>sản</a:t>
              </a:r>
              <a:r>
                <a:rPr lang="en-US" sz="2600">
                  <a:solidFill>
                    <a:srgbClr val="0070C0"/>
                  </a:solidFill>
                </a:rPr>
                <a:t> </a:t>
              </a:r>
              <a:r>
                <a:rPr lang="en-US" sz="2600" err="1">
                  <a:solidFill>
                    <a:srgbClr val="0070C0"/>
                  </a:solidFill>
                </a:rPr>
                <a:t>phẩm</a:t>
              </a:r>
              <a:r>
                <a:rPr lang="en-US" sz="2600">
                  <a:solidFill>
                    <a:srgbClr val="0070C0"/>
                  </a:solidFill>
                </a:rPr>
                <a:t> </a:t>
              </a:r>
              <a:endParaRPr lang="en-US" sz="2600">
                <a:solidFill>
                  <a:srgbClr val="0070C0"/>
                </a:solidFill>
                <a:ea typeface="Arial Unicode MS"/>
                <a:cs typeface="Arial Unicode MS"/>
              </a:endParaRPr>
            </a:p>
          </p:txBody>
        </p:sp>
        <p:grpSp>
          <p:nvGrpSpPr>
            <p:cNvPr id="73" name="Group 3">
              <a:extLst>
                <a:ext uri="{FF2B5EF4-FFF2-40B4-BE49-F238E27FC236}">
                  <a16:creationId xmlns:a16="http://schemas.microsoft.com/office/drawing/2014/main" id="{307F4FDD-3944-916D-9C4B-3695D205C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331" y="4726581"/>
              <a:ext cx="774700" cy="690563"/>
              <a:chOff x="1110" y="2656"/>
              <a:chExt cx="1549" cy="1351"/>
            </a:xfrm>
          </p:grpSpPr>
          <p:sp>
            <p:nvSpPr>
              <p:cNvPr id="74" name="AutoShape 4">
                <a:extLst>
                  <a:ext uri="{FF2B5EF4-FFF2-40B4-BE49-F238E27FC236}">
                    <a16:creationId xmlns:a16="http://schemas.microsoft.com/office/drawing/2014/main" id="{B14CD752-31AE-A28E-C833-4CCFECC3298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75" name="AutoShape 5">
                <a:extLst>
                  <a:ext uri="{FF2B5EF4-FFF2-40B4-BE49-F238E27FC236}">
                    <a16:creationId xmlns:a16="http://schemas.microsoft.com/office/drawing/2014/main" id="{47C52B7D-AE95-F563-5A96-E8E0E6C17E8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sz="1800"/>
              </a:p>
            </p:txBody>
          </p:sp>
          <p:sp>
            <p:nvSpPr>
              <p:cNvPr id="76" name="AutoShape 6">
                <a:extLst>
                  <a:ext uri="{FF2B5EF4-FFF2-40B4-BE49-F238E27FC236}">
                    <a16:creationId xmlns:a16="http://schemas.microsoft.com/office/drawing/2014/main" id="{2D65472D-EE3C-3E0F-B248-4018860ED93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99" y="2737"/>
                <a:ext cx="1349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C00000"/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/>
              </a:p>
            </p:txBody>
          </p:sp>
        </p:grpSp>
        <p:sp>
          <p:nvSpPr>
            <p:cNvPr id="77" name="Text Box 13">
              <a:extLst>
                <a:ext uri="{FF2B5EF4-FFF2-40B4-BE49-F238E27FC236}">
                  <a16:creationId xmlns:a16="http://schemas.microsoft.com/office/drawing/2014/main" id="{82E12800-8E2A-2F14-5124-922A17A93E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51253" y="4865571"/>
              <a:ext cx="38985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2400" b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78" name="Rectangle 2">
              <a:extLst>
                <a:ext uri="{FF2B5EF4-FFF2-40B4-BE49-F238E27FC236}">
                  <a16:creationId xmlns:a16="http://schemas.microsoft.com/office/drawing/2014/main" id="{56A2983C-BB64-27A9-C5F2-8E112A8D3003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1086656" y="4883531"/>
              <a:ext cx="5038063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600" err="1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Kết</a:t>
              </a:r>
              <a:r>
                <a:rPr lang="en-US" sz="2600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luận</a:t>
              </a:r>
              <a:r>
                <a:rPr lang="en-US" sz="2600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 &amp; </a:t>
              </a:r>
              <a:r>
                <a:rPr lang="en-US" sz="2600" err="1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hướng</a:t>
              </a:r>
              <a:r>
                <a:rPr lang="en-US" sz="2600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phát</a:t>
              </a:r>
              <a:r>
                <a:rPr lang="en-US" sz="2600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 </a:t>
              </a:r>
              <a:r>
                <a:rPr lang="en-US" sz="2600" err="1">
                  <a:solidFill>
                    <a:srgbClr val="0070C0"/>
                  </a:solidFill>
                  <a:latin typeface="Arial Unicode MS"/>
                  <a:ea typeface="Arial Unicode MS"/>
                  <a:cs typeface="Arial Unicode MS"/>
                </a:rPr>
                <a:t>triển</a:t>
              </a:r>
            </a:p>
          </p:txBody>
        </p:sp>
        <p:sp>
          <p:nvSpPr>
            <p:cNvPr id="79" name="Line 11">
              <a:extLst>
                <a:ext uri="{FF2B5EF4-FFF2-40B4-BE49-F238E27FC236}">
                  <a16:creationId xmlns:a16="http://schemas.microsoft.com/office/drawing/2014/main" id="{F30E79EE-19C4-D782-7E9D-96A408FDB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3690" y="2465363"/>
              <a:ext cx="5914494" cy="6403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11">
              <a:extLst>
                <a:ext uri="{FF2B5EF4-FFF2-40B4-BE49-F238E27FC236}">
                  <a16:creationId xmlns:a16="http://schemas.microsoft.com/office/drawing/2014/main" id="{AB4EF1D1-0AF4-FD57-37C0-E15C36834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7197" y="3308267"/>
              <a:ext cx="5914494" cy="6403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6B5D79D0-4D41-F3CD-9898-4219A9850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5288" y="4292040"/>
              <a:ext cx="5914494" cy="6403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11">
              <a:extLst>
                <a:ext uri="{FF2B5EF4-FFF2-40B4-BE49-F238E27FC236}">
                  <a16:creationId xmlns:a16="http://schemas.microsoft.com/office/drawing/2014/main" id="{090D5236-E5E1-AE73-3B9D-6CAA3BD23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9859" y="5228825"/>
              <a:ext cx="5914494" cy="6403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F1BD112-92ED-EC13-BE88-42AD65A223F8}"/>
                </a:ext>
              </a:extLst>
            </p:cNvPr>
            <p:cNvSpPr/>
            <p:nvPr/>
          </p:nvSpPr>
          <p:spPr>
            <a:xfrm>
              <a:off x="8132475" y="1459292"/>
              <a:ext cx="718587" cy="424911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0000"/>
                </a:solidFill>
                <a:cs typeface="Arial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DDFDDE9-EE10-D379-48BA-0E6615CC5DBB}"/>
                </a:ext>
              </a:extLst>
            </p:cNvPr>
            <p:cNvSpPr/>
            <p:nvPr/>
          </p:nvSpPr>
          <p:spPr>
            <a:xfrm>
              <a:off x="8124156" y="2111613"/>
              <a:ext cx="740232" cy="393841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0000"/>
                </a:solidFill>
                <a:cs typeface="Arial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3439BDD-AB21-CAB1-EEBD-6525D9311FC9}"/>
                </a:ext>
              </a:extLst>
            </p:cNvPr>
            <p:cNvSpPr/>
            <p:nvPr/>
          </p:nvSpPr>
          <p:spPr>
            <a:xfrm>
              <a:off x="8110941" y="3064249"/>
              <a:ext cx="740235" cy="384887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0000"/>
                </a:solidFill>
                <a:cs typeface="Arial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5DF7CEA-172D-0639-8A56-18E8C08C15F3}"/>
                </a:ext>
              </a:extLst>
            </p:cNvPr>
            <p:cNvSpPr/>
            <p:nvPr/>
          </p:nvSpPr>
          <p:spPr>
            <a:xfrm>
              <a:off x="8144825" y="4042971"/>
              <a:ext cx="712289" cy="27612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0000"/>
                </a:solidFill>
                <a:cs typeface="Arial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F59D7A2-D971-32A5-E39C-E5A64446CCC8}"/>
                </a:ext>
              </a:extLst>
            </p:cNvPr>
            <p:cNvSpPr/>
            <p:nvPr/>
          </p:nvSpPr>
          <p:spPr>
            <a:xfrm>
              <a:off x="8124154" y="4990984"/>
              <a:ext cx="740233" cy="2551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solidFill>
                  <a:srgbClr val="FF0000"/>
                </a:solidFill>
                <a:cs typeface="Arial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4ACD621-3733-C73F-127A-9D78B211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" y="1"/>
            <a:ext cx="1046140" cy="980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8F8263-E455-98BB-AA65-46E29C28CD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1225"/>
            <a:ext cx="864096" cy="8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08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1ABC47-A22E-44D2-8E4E-F9EE51E86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C3F864-3737-4281-B9AF-A1A80349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82" y="1550824"/>
            <a:ext cx="4480660" cy="595536"/>
          </a:xfrm>
        </p:spPr>
        <p:txBody>
          <a:bodyPr/>
          <a:lstStyle/>
          <a:p>
            <a:pPr algn="ctr"/>
            <a:r>
              <a:rPr lang="vi-VN" sz="2700">
                <a:solidFill>
                  <a:srgbClr val="4472C4"/>
                </a:solidFill>
                <a:ea typeface="+mj-lt"/>
                <a:cs typeface="+mj-lt"/>
              </a:rPr>
              <a:t>Tổng quan bài toán &amp; mục tiêu nghiên cứu</a:t>
            </a:r>
            <a:endParaRPr lang="en-US" sz="2700" b="0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 altLang="en-US">
              <a:solidFill>
                <a:srgbClr val="0070C0"/>
              </a:solidFill>
              <a:ea typeface="Arial Unicode MS"/>
              <a:cs typeface="Arial Unicode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99030-D1B6-7AE7-0989-1CD7FA79527C}"/>
              </a:ext>
            </a:extLst>
          </p:cNvPr>
          <p:cNvSpPr txBox="1"/>
          <p:nvPr/>
        </p:nvSpPr>
        <p:spPr>
          <a:xfrm>
            <a:off x="319626" y="2167876"/>
            <a:ext cx="4320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 traffic situation in big cities in Vietnam is increasingly becoming a hot issue for managers and for society.</a:t>
            </a:r>
          </a:p>
          <a:p>
            <a:pPr algn="just"/>
            <a:endParaRPr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and development of early warning applications for traffic participants is also a solution to contribute to minimizing the above problems.. </a:t>
            </a:r>
            <a:endParaRPr lang="en-US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/>
          </a:p>
        </p:txBody>
      </p:sp>
      <p:pic>
        <p:nvPicPr>
          <p:cNvPr id="1026" name="Picture 2" descr="Record traffic jams slow down German autobahns | News | DW | 17.01.2019">
            <a:extLst>
              <a:ext uri="{FF2B5EF4-FFF2-40B4-BE49-F238E27FC236}">
                <a16:creationId xmlns:a16="http://schemas.microsoft.com/office/drawing/2014/main" id="{43BD92C0-6686-9221-9CED-B6AE386E7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556792"/>
            <a:ext cx="3672407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ze v4.84.40.400 APK + MOD (Optimized) Download">
            <a:extLst>
              <a:ext uri="{FF2B5EF4-FFF2-40B4-BE49-F238E27FC236}">
                <a16:creationId xmlns:a16="http://schemas.microsoft.com/office/drawing/2014/main" id="{1A26D673-3FF6-FD15-AAF5-884342998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301" y="4149080"/>
            <a:ext cx="3740177" cy="218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7FA16B-B58D-C5C7-1B15-CE9C1131C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6" y="1"/>
            <a:ext cx="1046140" cy="9807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BC349-1F33-B3C9-3100-4B6CCD3203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1225"/>
            <a:ext cx="864096" cy="8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1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1ABC47-A22E-44D2-8E4E-F9EE51E86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2529B9-37BD-8278-9878-2D974ECA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" y="1"/>
            <a:ext cx="1046140" cy="9807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B666DB-8E48-DB86-CE4A-F77AF2E5C2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1225"/>
            <a:ext cx="864096" cy="8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38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0B381B-E344-F08E-8919-12314B43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F33A5BAB-8EC7-AFF1-3B21-B1BACD114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34650"/>
      </p:ext>
    </p:ext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C66E-7C13-7E39-1A74-18CE2B8B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398C9-C83D-CF8D-1674-59C3761F8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50D20-BE38-86F4-C921-CC0717AACD1B}"/>
              </a:ext>
            </a:extLst>
          </p:cNvPr>
          <p:cNvSpPr txBox="1"/>
          <p:nvPr/>
        </p:nvSpPr>
        <p:spPr>
          <a:xfrm>
            <a:off x="575907" y="2413000"/>
            <a:ext cx="7887072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>
                <a:solidFill>
                  <a:srgbClr val="0070C0"/>
                </a:solidFill>
              </a:rPr>
              <a:t>Thank you very much </a:t>
            </a:r>
          </a:p>
          <a:p>
            <a:pPr algn="ctr">
              <a:defRPr/>
            </a:pPr>
            <a:r>
              <a:rPr lang="en-US" sz="5400" b="1">
                <a:solidFill>
                  <a:srgbClr val="0070C0"/>
                </a:solidFill>
              </a:rPr>
              <a:t>for your kind attention!</a:t>
            </a:r>
          </a:p>
          <a:p>
            <a:pPr>
              <a:defRPr/>
            </a:pPr>
            <a:endParaRPr lang="en-US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805164-6BF7-8214-B144-FB773549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" y="1"/>
            <a:ext cx="1046140" cy="9807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309592-01B6-D339-5E29-5787F2CC6D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1225"/>
            <a:ext cx="864096" cy="8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5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Bentley1">
  <a:themeElements>
    <a:clrScheme name="Bentley Color Palette">
      <a:dk1>
        <a:srgbClr val="002A44"/>
      </a:dk1>
      <a:lt1>
        <a:srgbClr val="FFFFFF"/>
      </a:lt1>
      <a:dk2>
        <a:srgbClr val="000000"/>
      </a:dk2>
      <a:lt2>
        <a:srgbClr val="A6AFB7"/>
      </a:lt2>
      <a:accent1>
        <a:srgbClr val="55A51C"/>
      </a:accent1>
      <a:accent2>
        <a:srgbClr val="002A44"/>
      </a:accent2>
      <a:accent3>
        <a:srgbClr val="B2D1AE"/>
      </a:accent3>
      <a:accent4>
        <a:srgbClr val="A6AFB7"/>
      </a:accent4>
      <a:accent5>
        <a:srgbClr val="61BC47"/>
      </a:accent5>
      <a:accent6>
        <a:srgbClr val="005386"/>
      </a:accent6>
      <a:hlink>
        <a:srgbClr val="55A51C"/>
      </a:hlink>
      <a:folHlink>
        <a:srgbClr val="B2D1AE"/>
      </a:folHlink>
    </a:clrScheme>
    <a:fontScheme name="GTCC">
      <a:majorFont>
        <a:latin typeface="Arial Unicode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  <a:ea typeface="MS PGothic"/>
            <a:cs typeface="MS PGothic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/>
            <a:cs typeface="MS PGothic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err="1" smtClean="0">
            <a:latin typeface="+mn-lt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Bentley1</Template>
  <Application>Microsoft Office PowerPoint</Application>
  <PresentationFormat>On-screen Show (4:3)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Bentley1</vt:lpstr>
      <vt:lpstr>ỨNG DỤNG TRÍ TUỆ NHÂN TẠO TRONG NHẬN DIỆN BIỂN SỐ XE VÀ XÂY DỰNG HỆ THỐNG QUẢN LÝ BÃI ĐỖ XE THÔNG MINH </vt:lpstr>
      <vt:lpstr>Nội Dung Trình Bày</vt:lpstr>
      <vt:lpstr>Tổng quan bài toán &amp; mục tiêu nghiên cứu </vt:lpstr>
      <vt:lpstr>PowerPoint Presentation</vt:lpstr>
      <vt:lpstr>PowerPoint Presentation</vt:lpstr>
      <vt:lpstr>PowerPoint Presentation</vt:lpstr>
    </vt:vector>
  </TitlesOfParts>
  <Company>Bentley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BalvitJohl</dc:creator>
  <cp:revision>4</cp:revision>
  <cp:lastPrinted>2018-02-27T08:02:09Z</cp:lastPrinted>
  <dcterms:created xsi:type="dcterms:W3CDTF">2010-05-31T01:00:33Z</dcterms:created>
  <dcterms:modified xsi:type="dcterms:W3CDTF">2026-05-05T14:57:19Z</dcterms:modified>
</cp:coreProperties>
</file>